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33172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331720"/>
            <a:ext cx="12191695" cy="109728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社員のみなさんへ ／ 2026年8月 新体制から、その先へ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2344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光和工業は、こう変わる。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2C5F2D"/>
                </a:solidFill>
              </a:rPr>
              <a:t>住まいを直す会社から、</a:t>
            </a:r>
            <a:endParaRPr lang="en-US" sz="2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36454F"/>
                </a:solidFill>
              </a:rPr>
              <a:t>“暮らしと健康”をつくる会社へ。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</a:rPr>
              <a:t>積水ハウス不動産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44952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42E"/>
                </a:solidFill>
              </a:rPr>
              <a:t>ランドリー moco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75504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A"/>
                </a:solidFill>
              </a:rPr>
              <a:t>KÖWA SAUNA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06056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5A"/>
                </a:solidFill>
              </a:rPr>
              <a:t>ウェルネス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436608" y="457200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905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7A3E"/>
                </a:solidFill>
              </a:rPr>
              <a:t>飲食（カフェ）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6126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A8A8A"/>
                </a:solidFill>
              </a:rPr>
              <a:t>有限会社 光和工業（宮城県黒川郡大和町・1998年創業）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これまでの私たち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リフォーム屋として、25年で積み上げてきたもの。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1998年、大和町で創業。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積水ハウス不動産の原状回復・リノベを支えるリフォーム屋として。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75234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培ったのは「空間を直す技術」。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退去・原状回復・アフター・定期巡回 ― 現場の段取り力と確かな手仕事。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53872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そして何より、信頼。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任せてもらえる関係を、一件ずつ積み重ねてきた。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80960" y="1965960"/>
            <a:ext cx="3749040" cy="2331720"/>
          </a:xfrm>
          <a:prstGeom prst="roundRect">
            <a:avLst>
              <a:gd name="adj" fmla="val 4706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FFFFFF"/>
                </a:solidFill>
              </a:rPr>
              <a:t>この「土台」は、消えない。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</a:rPr>
              <a:t> </a:t>
            </a:r>
            <a:endParaRPr lang="en-US" sz="1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F0E6"/>
                </a:solidFill>
              </a:rPr>
              <a:t>これから始まるすべての新しい事業は、この技術と信頼の上に建っています。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36454F"/>
                </a:solidFill>
              </a:rPr>
              <a:t>変わるのは「やること」が増えること。変わらないのは、ものづくりへの誠実さ。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なぜ、いま変わるのか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世の中が変わっている。だから私たちも動く。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地方は、人口減と担い手不足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単一の下請けだけでは、会社の未来が「一社の事情」に左右されてしまう。事業の柱を増やすことは、みんなの雇用を守ること。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時代は「健康・ととのう」へ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45152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サウナ・睡眠・健康経営は、いま社会全体が求めている価値。私たちの強みを活かせる大きな波が来ている。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75904" y="2011680"/>
            <a:ext cx="3429000" cy="777240"/>
          </a:xfrm>
          <a:prstGeom prst="roundRect">
            <a:avLst>
              <a:gd name="adj" fmla="val 11765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</a:rPr>
              <a:t>技術と人を、もっと広い世界へ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75904" y="2926080"/>
            <a:ext cx="34290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「空間を直す力」と現場の人材は、住まいの外でも通用する。眠らせておくのはもったいない。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新しい私たちの姿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5つの事業で、暮らしを多面的に支える。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積水ハウス不動産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退去・原状回復・リノベ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本業。すべての土台。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5351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ランドリー moco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コインランドリー＋穀物乾燥機組立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5351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9742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地域の日常と産業を支える。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9379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KÖWA SAUNA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完全貸切プライベートサウナ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9379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8C3B4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リフォーム屋が本気で作る“ととのう”。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3407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ウェルネス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健康経営コンサル／保険・睡眠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3407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5B8C5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人の健康そのものを支える。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74352" y="2057400"/>
            <a:ext cx="20574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00" b="1" dirty="0">
                <a:solidFill>
                  <a:srgbClr val="FFFFFF"/>
                </a:solidFill>
              </a:rPr>
              <a:t>飲食（カフェ）</a:t>
            </a:r>
            <a:endParaRPr lang="en-US" sz="13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F2F2F2"/>
                </a:solidFill>
              </a:rPr>
              <a:t>アニマルフレンドリーカフェ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74352" y="3063240"/>
            <a:ext cx="20574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B07A3E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36454F"/>
                </a:solidFill>
              </a:rPr>
              <a:t>地域が集う場と、社会貢献。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6454F"/>
                </a:solidFill>
              </a:rPr>
              <a:t>「いろいろやっている」のではありません。</a:t>
            </a:r>
            <a:pPr algn="ctr" indent="0" marL="0">
              <a:buNone/>
            </a:pPr>
            <a:r>
              <a:rPr lang="en-US" sz="1700" b="1" dirty="0">
                <a:solidFill>
                  <a:srgbClr val="2C5F2D"/>
                </a:solidFill>
              </a:rPr>
              <a:t>ぜんぶ、つながっています。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5つは、ひとつの糸でつながる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直す → 整える → 憩う → 健康に → 集う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1C7293"/>
                </a:solidFill>
              </a:rPr>
              <a:t>直す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積水ハウス不動産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空間を直す技術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606040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871216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C9742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C9742E"/>
                </a:solidFill>
              </a:rPr>
              <a:t>整える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ランドリー／乾燥機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日常と産業を支える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18888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084064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8C3B4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8C3B4A"/>
                </a:solidFill>
              </a:rPr>
              <a:t>憩う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KÖWA SAUNA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ととのう体験へ昇華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31736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296912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5B8C5A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5B8C5A"/>
                </a:solidFill>
              </a:rPr>
              <a:t>健康に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ウェルネス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心と体の健康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244584" y="2286000"/>
            <a:ext cx="28346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</a:rPr>
              <a:t>›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9509760" y="2286000"/>
            <a:ext cx="1965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B07A3E"/>
            </a:solidFill>
          </a:ln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200" b="1" dirty="0">
                <a:solidFill>
                  <a:srgbClr val="B07A3E"/>
                </a:solidFill>
              </a:rPr>
              <a:t>集う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36454F"/>
                </a:solidFill>
              </a:rPr>
              <a:t>飲食カフェ</a:t>
            </a:r>
            <a:endParaRPr lang="en-US" sz="2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A8A8A"/>
                </a:solidFill>
              </a:rPr>
              <a:t>人と地域がつながる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4400" y="452628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縦糸 ＝ 技術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6F0E6"/>
                </a:solidFill>
              </a:rPr>
              <a:t>「直す力」を、整える・憩う・健康にする力へと育てていく。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4983480" cy="1280160"/>
          </a:xfrm>
          <a:prstGeom prst="roundRect">
            <a:avLst>
              <a:gd name="adj" fmla="val 7143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横糸 ＝ 地域</a:t>
            </a:r>
            <a:endParaRPr lang="en-US" sz="1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DEDEF"/>
                </a:solidFill>
              </a:rPr>
              <a:t>大和町・宮城の暮らしを、住・健康・食・産業で多面的に支える。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世の中と、どうつながるか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私たちの仕事が、社会の課題とつながっていく。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6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5B8C5A"/>
          </a:solidFill>
          <a:ln/>
        </p:spPr>
      </p:sp>
      <p:sp>
        <p:nvSpPr>
          <p:cNvPr id="8" name="Text 6"/>
          <p:cNvSpPr/>
          <p:nvPr/>
        </p:nvSpPr>
        <p:spPr>
          <a:xfrm>
            <a:off x="117043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5B8C5A"/>
                </a:solidFill>
              </a:rPr>
              <a:t>働く人の健康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健康経営コンサル・BrainSleep の睡眠・保険相談で、企業と人の「元気」を支える。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92024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C9742E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90195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9742E"/>
                </a:solidFill>
              </a:rPr>
              <a:t>地域と産業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コインランドリーは暮らしのインフラ。穀物乾燥機の組立（JA連携）で農業も支える。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B07A3E"/>
          </a:solidFill>
          <a:ln/>
        </p:spPr>
      </p:sp>
      <p:sp>
        <p:nvSpPr>
          <p:cNvPr id="14" name="Text 12"/>
          <p:cNvSpPr/>
          <p:nvPr/>
        </p:nvSpPr>
        <p:spPr>
          <a:xfrm>
            <a:off x="117043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07A3E"/>
                </a:solidFill>
              </a:rPr>
              <a:t>社会への還元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7043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アニマルフレンドリーカフェ。売上の一部を動物保護団体へ寄付し、地域の集いの場をつくる。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63640" y="3703320"/>
            <a:ext cx="109728" cy="1600200"/>
          </a:xfrm>
          <a:prstGeom prst="roundRect">
            <a:avLst>
              <a:gd name="adj" fmla="val 25000"/>
            </a:avLst>
          </a:prstGeom>
          <a:solidFill>
            <a:srgbClr val="8C3B4A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68503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8C3B4A"/>
                </a:solidFill>
              </a:rPr>
              <a:t>誇りを、新しい価値に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19672" y="416052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6454F"/>
                </a:solidFill>
              </a:rPr>
              <a:t>「リフォーム屋が本気で作る」サウナ。職人の誇りが、人を“ととのえる”体験になる。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これからの拠点・店舗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地域に、“光和の顔”が増えていく。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KÖWA SAUNA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完全貸切プライベートサウナ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社長直轄。リフォームの技術で作り込んだ空間で、「ととのう」を独り占めできる場所に。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45152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B07A3E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杜の丘 カフェ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POPUP → クラファン → 2年後に店舗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45152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アニマルフレンドリーカフェ。まず試し、応援を集め、地域に根づく店へ育てていく。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375904" y="1965960"/>
            <a:ext cx="3429000" cy="868680"/>
          </a:xfrm>
          <a:prstGeom prst="roundRect">
            <a:avLst>
              <a:gd name="adj" fmla="val 10526"/>
            </a:avLst>
          </a:prstGeom>
          <a:solidFill>
            <a:srgbClr val="5B8C5A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ウェルネス拠点</a:t>
            </a:r>
            <a:endParaRPr lang="en-US" sz="16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F2F2F2"/>
                </a:solidFill>
              </a:rPr>
              <a:t>健康経営・保険・睡眠（8月〜）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75904" y="297180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6454F"/>
                </a:solidFill>
              </a:rPr>
              <a:t>休憩室や寝具の福利厚生提案を入口に、サウナ・寝具の営業ともつながっていく。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914400" y="55321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6454F"/>
                </a:solidFill>
              </a:rPr>
              <a:t>拠点が増えるほど、地域での出会いと仕事のきっかけが増えていく。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一人ひとりの、働き方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ひとつの会社で、いくつもの経験と成長を。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965960"/>
            <a:ext cx="10332720" cy="868680"/>
          </a:xfrm>
          <a:prstGeom prst="roundRect">
            <a:avLst>
              <a:gd name="adj" fmla="val 10526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例：油谷さんの働き方　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DEDEF"/>
                </a:solidFill>
              </a:rPr>
              <a:t>積水の定期巡回を軸に、サウナ・飲食・穀物乾燥機の組立まで横断サポート（JA新みやぎ18年・フォークリフト有）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マルチスキルへ。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一つの現場に縛られず、複数の事業で力を発揮できる。スキルの掛け算がその人の価値になる。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4069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兼務は、リスク分散でもある。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会社にとっては事業の柱が増えること。働く人にとっては、仕事が途切れにくくなること。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成長の機会が、社内に広がる。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やってみたいことに手を挙げられる。新しい事業は、新しい役割とポジションを生む。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ロードマップ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5つの事業がそろうまで、そして、その先へ。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9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029968"/>
            <a:ext cx="10332720" cy="0"/>
          </a:xfrm>
          <a:prstGeom prst="line">
            <a:avLst/>
          </a:prstGeom>
          <a:noFill/>
          <a:ln w="31750">
            <a:solidFill>
              <a:srgbClr val="2C5F2D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78024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これまで（〜2024）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1998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創業。積水ハウス不動産の原状回復・リノベを本業に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2023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ランドリー事業 開始（コインランドリー moco）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6454F"/>
                </a:solidFill>
              </a:rPr>
              <a:t>2024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サウナ事業に着手（KÖWA SAUNA 開発）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25896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いま（2025〜2026）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62272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2025.7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穀物乾燥機の組立を請負（朝日製作所）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62272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2026.7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ランドリー周辺の新規業務が本格化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462272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2026.8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新体制スタート・ウェルネス事業 開始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573768" y="1947672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C9742E"/>
          </a:solidFill>
          <a:ln/>
        </p:spPr>
      </p:sp>
      <p:sp>
        <p:nvSpPr>
          <p:cNvPr id="19" name="Text 17"/>
          <p:cNvSpPr/>
          <p:nvPr/>
        </p:nvSpPr>
        <p:spPr>
          <a:xfrm>
            <a:off x="8010144" y="2331720"/>
            <a:ext cx="3291840" cy="548640"/>
          </a:xfrm>
          <a:prstGeom prst="roundRect">
            <a:avLst>
              <a:gd name="adj" fmla="val 16667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これから（2027〜）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010144" y="306324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2027〜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サウナ体験型ショールームを展開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0144" y="40233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約2年後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カフェ：POPUP → クラファン → 店舗出店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010144" y="498348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0E0DA"/>
            </a:solidFill>
          </a:ln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目標　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6454F"/>
                </a:solidFill>
              </a:rPr>
              <a:t>5事業で年商7億円へ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数字で見る目標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現在地は約4.65億円。目指すは、年商7億円。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36454F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D8DDE0"/>
                </a:solidFill>
              </a:rPr>
              <a:t>現在地　</a:t>
            </a:r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約4.65億円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DE0"/>
                </a:solidFill>
              </a:rPr>
              <a:t>第26期（R6.7〜R7.6）売上高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66360" y="17830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9742E"/>
                </a:solidFill>
              </a:rPr>
              <a:t>＋2.35億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C5F2D"/>
                </a:solidFill>
              </a:rPr>
              <a:t>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86600" y="1783080"/>
            <a:ext cx="4160520" cy="960120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FE3CF"/>
                </a:solidFill>
              </a:rPr>
              <a:t>目標　</a:t>
            </a:r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7億円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FE3CF"/>
                </a:solidFill>
              </a:rPr>
              <a:t>5事業の合計で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971800"/>
            <a:ext cx="10332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6454F"/>
                </a:solidFill>
              </a:rPr>
              <a:t>目標 7億円の内訳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310128"/>
            <a:ext cx="4428309" cy="749808"/>
          </a:xfrm>
          <a:prstGeom prst="roundRect">
            <a:avLst>
              <a:gd name="adj" fmla="val 4878"/>
            </a:avLst>
          </a:prstGeom>
          <a:solidFill>
            <a:srgbClr val="1C729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2709" y="3310128"/>
            <a:ext cx="2952206" cy="749808"/>
          </a:xfrm>
          <a:prstGeom prst="roundRect">
            <a:avLst>
              <a:gd name="adj" fmla="val 4878"/>
            </a:avLst>
          </a:prstGeom>
          <a:solidFill>
            <a:srgbClr val="C9742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94914" y="3310128"/>
            <a:ext cx="1476103" cy="749808"/>
          </a:xfrm>
          <a:prstGeom prst="roundRect">
            <a:avLst>
              <a:gd name="adj" fmla="val 4878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771017" y="3310128"/>
            <a:ext cx="1476103" cy="749808"/>
          </a:xfrm>
          <a:prstGeom prst="roundRect">
            <a:avLst>
              <a:gd name="adj" fmla="val 4878"/>
            </a:avLst>
          </a:prstGeom>
          <a:solidFill>
            <a:srgbClr val="8C3B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1億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14400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1C7293"/>
                </a:solidFill>
              </a:rPr>
              <a:t>リフォーム本業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積水ハウス不動産 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78992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C7293"/>
                </a:solidFill>
              </a:rPr>
              <a:t>3億円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78992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会社の土台（実績あり）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38728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C974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C9742E"/>
                </a:solidFill>
              </a:rPr>
              <a:t>ランドリー事業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moco・穀物乾燥機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703320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742E"/>
                </a:solidFill>
              </a:rPr>
              <a:t>2億円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第2の柱へ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63056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2C5F2D"/>
                </a:solidFill>
              </a:rPr>
              <a:t>代表直轄リフォーム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LIXIL等・広顕の現場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327648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C5F2D"/>
                </a:solidFill>
              </a:rPr>
              <a:t>1億円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27648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社長の現場力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787384" y="4315968"/>
            <a:ext cx="246888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9050">
            <a:solidFill>
              <a:srgbClr val="8C3B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51976" y="4407408"/>
            <a:ext cx="21396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8C3B4A"/>
                </a:solidFill>
              </a:rPr>
              <a:t>新規3事業</a:t>
            </a:r>
            <a:endParaRPr lang="en-US" sz="125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8A8A8A"/>
                </a:solidFill>
              </a:rPr>
              <a:t>サウナ・ウェルネス・カフェ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951976" y="4992624"/>
            <a:ext cx="21396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C3B4A"/>
                </a:solidFill>
              </a:rPr>
              <a:t>1億円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951976" y="5449824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6454F"/>
                </a:solidFill>
              </a:rPr>
              <a:t>これからの種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400" y="5961888"/>
            <a:ext cx="10332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6454F"/>
                </a:solidFill>
              </a:rPr>
              <a:t>本業（約4.3億の工事実績）を土台に、ランドリーと新規事業を伸ばして＋2.35億。全体で7億へ。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12191695" cy="91440"/>
          </a:xfrm>
          <a:prstGeom prst="roundRect">
            <a:avLst/>
          </a:prstGeom>
          <a:solidFill>
            <a:srgbClr val="C9742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772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FE3CF"/>
                </a:solidFill>
              </a:rPr>
              <a:t>私たちのビジョン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22860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CFE3CF"/>
                </a:solidFill>
              </a:rPr>
              <a:t>「住まいの会社」から、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大和町発・“暮らしと健康”の</a:t>
            </a:r>
            <a:endParaRPr lang="en-US" sz="3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</a:rPr>
              <a:t>地域プラットフォームへ。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937760"/>
            <a:ext cx="10332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直す力で、人を、地域を、社会を、整えていく。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0F6F0"/>
                </a:solidFill>
              </a:rPr>
              <a:t>宮城の“ととのう暮らし”をつくる会社に。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66928"/>
            <a:ext cx="128016" cy="713232"/>
          </a:xfrm>
          <a:prstGeom prst="roundRect">
            <a:avLst>
              <a:gd name="adj" fmla="val 28571"/>
            </a:avLst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30352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42E"/>
                </a:solidFill>
              </a:rPr>
              <a:t>みんなへ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84124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C5F2D"/>
                </a:solidFill>
              </a:rPr>
              <a:t>変わるのは「数」じゃない。社会との“つながり”が広がること。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572768"/>
            <a:ext cx="10607040" cy="0"/>
          </a:xfrm>
          <a:prstGeom prst="line">
            <a:avLst/>
          </a:prstGeom>
          <a:noFill/>
          <a:ln w="19050">
            <a:solidFill>
              <a:srgbClr val="D8D8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55680" y="6382512"/>
            <a:ext cx="822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8A"/>
                </a:solidFill>
              </a:rPr>
              <a:t>12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土台は、これまでと同じ。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技術と、誠実さと、人。25年で積み上げたものは、これからも私たちの中心です。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広がるのは、社会と関わる“面”。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住まいから、健康・食・地域・産業へ。私たちが役に立てる場所が増えていきます。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C5F2D"/>
                </a:solidFill>
              </a:rPr>
              <a:t>●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6454F"/>
                </a:solidFill>
              </a:rPr>
              <a:t>新しい挑戦に、あなたの力を。</a:t>
            </a:r>
            <a:endParaRPr lang="en-US" sz="14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8A8A8A"/>
                </a:solidFill>
              </a:rPr>
              <a:t>どの事業にも、一人ひとりの経験と工夫が必要です。やってみたいことは、ぜひ声に。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1033272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一緒に、つくっていきましょう。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2026-06-25T03:24:57Z</dcterms:created>
  <dcterms:modified xsi:type="dcterms:W3CDTF">2026-06-25T03:24:57Z</dcterms:modified>
</cp:coreProperties>
</file>