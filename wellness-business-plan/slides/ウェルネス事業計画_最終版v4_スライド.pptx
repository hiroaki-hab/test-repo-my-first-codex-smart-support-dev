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FC5A0"/>
                </a:solidFill>
                <a:latin typeface="Yu Gothic"/>
              </a:rPr>
              <a:t>KOWA WELLNESS DIVISION ― 事業計画 最終版 v4（スライド版）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Yu Gothic"/>
              </a:rPr>
              <a:t>ウェルネス事業部 事業計画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認定を、「実感」と「自慢」に変える。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CCD9E5"/>
                </a:solidFill>
                <a:latin typeface="Yu Gothic"/>
              </a:rPr>
              <a:t>有限会社 光和工業　／　事業責任者：小林 舞（元アクサ生命・健康経営EA・2級FP技能士）</a:t>
            </a:r>
          </a:p>
          <a:p>
            <a:pPr algn="l"/>
            <a:r>
              <a:rPr sz="1400" b="0">
                <a:solidFill>
                  <a:srgbClr val="CCD9E5"/>
                </a:solidFill>
                <a:latin typeface="Yu Gothic"/>
              </a:rPr>
              <a:t>2026年7月　／　保険方針（募集なし）・認定企業向け戦略を反映した確定版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01  </a:t>
            </a:r>
            <a:r>
              <a:rPr sz="2200" b="1">
                <a:solidFill>
                  <a:srgbClr val="FFFFFF"/>
                </a:solidFill>
                <a:latin typeface="Yu Gothic"/>
              </a:rPr>
              <a:t>結論 ― この事業で何をするか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1325880"/>
          </a:xfrm>
          <a:prstGeom prst="rect">
            <a:avLst/>
          </a:prstGeom>
          <a:solidFill>
            <a:srgbClr val="E8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22222"/>
                </a:solidFill>
                <a:latin typeface="Yu Gothic"/>
              </a:rPr>
              <a:t>「健康経営の認定は取ったが、実感がない」企業に、サウナ×睡眠測定×施工で</a:t>
            </a:r>
          </a:p>
          <a:p>
            <a:pPr algn="l"/>
            <a:r>
              <a:rPr sz="2100" b="1">
                <a:solidFill>
                  <a:srgbClr val="1F3A5F"/>
                </a:solidFill>
                <a:latin typeface="Yu Gothic"/>
              </a:rPr>
              <a:t>社員には「実感」を、社長には「自慢」を届ける。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743200"/>
          <a:ext cx="1106423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326879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会社案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狙う客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認定取得済みの中小企業（宮城679社）。未着手層は「健康経営」と言わない入口だけ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売る物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サウナ法人契約／睡眠測定／セミナー6本／認定更新伴走／仮眠室・サウナ施工／ブレインスリープ優待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届ける価値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社員：眠れる・疲れが取れる（数字で見える）。社長：採用・取引先・銀行に語れる（自慢できる）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売り方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無料勢と価格で戦わない。まず自社で実証→事例を持って営業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数字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1年目=仕込み → 2年目=責任者給与の自給 → 3〜4年目=年収500万の原資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02  </a:t>
            </a:r>
            <a:r>
              <a:rPr sz="2200" b="1">
                <a:solidFill>
                  <a:srgbClr val="FFFFFF"/>
                </a:solidFill>
                <a:latin typeface="Yu Gothic"/>
              </a:rPr>
              <a:t>なぜ認定済み企業を狙うのか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Yu Gothic"/>
              </a:rPr>
              <a:t>まず「未着手の97%に売る」がいかに難しいかを直視する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未着手層（宮城 約10万事業所）の現実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データ・根拠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Yu Gothic"/>
                        </a:rPr>
                        <a:t>「健康経営」という言葉がそもそも通じない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Yu Gothic"/>
                        </a:rPr>
                        <a:t>浸透率0.65%。100社に営業して99社はゼロから説明が必要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Yu Gothic"/>
                        </a:rPr>
                        <a:t>説明して興味を持たれても、無料の競合に流れる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Yu Gothic"/>
                        </a:rPr>
                        <a:t>保険会社が全国の商工会議所の99%と提携し、無料で健康経営支援を提供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Yu Gothic"/>
                        </a:rPr>
                        <a:t>そもそも払う財布がない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Yu Gothic"/>
                        </a:rPr>
                        <a:t>県内事業所の約76%は従業員9人以下。福利厚生の財布は月2万円前後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Yu Gothic"/>
                        </a:rPr>
                        <a:t>意思決定に時間がかかる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Yu Gothic"/>
                        </a:rPr>
                        <a:t>「健康にお金を使う」初めての決断＝商談が長く、成約率が読めない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Yu Gothic"/>
              </a:rPr>
              <a:t>未着手層への営業は：説明コスト大 × 無料競合 × 財布なし × 決断が重い、の四重苦。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Yu Gothic"/>
              </a:rPr>
              <a:t>ここを主戦場にすると1名体制では体力が尽きる。入口（社長の睡眠測定など）だけに絞る。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03  </a:t>
            </a:r>
            <a:r>
              <a:rPr sz="2200" b="1">
                <a:solidFill>
                  <a:srgbClr val="FFFFFF"/>
                </a:solidFill>
                <a:latin typeface="Yu Gothic"/>
              </a:rPr>
              <a:t>なぜ認定済み企業を狙うのか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Yu Gothic"/>
              </a:rPr>
              <a:t>認定済み679社には「構造的に必ず発生する痛み」がある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237744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4937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62828"/>
                </a:solidFill>
                <a:latin typeface="Yu Gothic"/>
              </a:rPr>
              <a:t>痛みは制度が作っている</a:t>
            </a:r>
          </a:p>
          <a:p>
            <a:pPr algn="l"/>
            <a:r>
              <a:rPr sz="1250" b="0">
                <a:solidFill>
                  <a:srgbClr val="222222"/>
                </a:solidFill>
                <a:latin typeface="Yu Gothic"/>
              </a:rPr>
              <a:t>認定は「申請書が書ければ取れる」。取得後の効果測定は要求されない。</a:t>
            </a:r>
          </a:p>
          <a:p>
            <a:pPr algn="l"/>
            <a:r>
              <a:rPr sz="1300" b="1">
                <a:solidFill>
                  <a:srgbClr val="222222"/>
                </a:solidFill>
                <a:latin typeface="Yu Gothic"/>
              </a:rPr>
              <a:t>→「取ったのに何も変わらない」は全認定企業に構造的に発生する。</a:t>
            </a:r>
          </a:p>
          <a:p>
            <a:pPr algn="l"/>
            <a:r>
              <a:rPr sz="1250" b="1">
                <a:solidFill>
                  <a:srgbClr val="1F3A5F"/>
                </a:solidFill>
                <a:latin typeface="Yu Gothic"/>
              </a:rPr>
              <a:t>うちも認定を取って、同じことを感じた。仮説ではなく実体験。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94960" cy="2377440"/>
          </a:xfrm>
          <a:prstGeom prst="rect">
            <a:avLst/>
          </a:prstGeom>
          <a:solidFill>
            <a:srgbClr val="E8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4937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Yu Gothic"/>
              </a:rPr>
              <a:t>国も「実感」の方向へ誘導中</a:t>
            </a:r>
          </a:p>
          <a:p>
            <a:pPr algn="l"/>
            <a:r>
              <a:rPr sz="1250" b="0">
                <a:solidFill>
                  <a:srgbClr val="222222"/>
                </a:solidFill>
                <a:latin typeface="Yu Gothic"/>
              </a:rPr>
              <a:t>健康経営度調査は令和5年度から「睡眠」を生産性施策の筆頭に追加。厚労省も睡眠ガイド2023を公表。</a:t>
            </a:r>
          </a:p>
          <a:p>
            <a:pPr algn="l"/>
            <a:r>
              <a:rPr sz="1300" b="1">
                <a:solidFill>
                  <a:srgbClr val="222222"/>
                </a:solidFill>
                <a:latin typeface="Yu Gothic"/>
              </a:rPr>
              <a:t>→ 認定の「次」は睡眠と生産性。うちの商材と正面から一致。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E7D32"/>
                </a:solidFill>
                <a:latin typeface="Yu Gothic"/>
              </a:rPr>
              <a:t>▪ </a:t>
            </a:r>
            <a:r>
              <a:rPr sz="1300" b="1">
                <a:solidFill>
                  <a:srgbClr val="222222"/>
                </a:solidFill>
                <a:latin typeface="Yu Gothic"/>
              </a:rPr>
              <a:t>毎年の申請更新が重い（8〜10月）＝ 年1回、確実にお金が動くタイミングがある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E7D32"/>
                </a:solidFill>
                <a:latin typeface="Yu Gothic"/>
              </a:rPr>
              <a:t>▪ </a:t>
            </a:r>
            <a:r>
              <a:rPr sz="1300" b="0">
                <a:solidFill>
                  <a:srgbClr val="222222"/>
                </a:solidFill>
                <a:latin typeface="Yu Gothic"/>
              </a:rPr>
              <a:t>「今年は何をやったことにするか」施策の弾切れ ＝ セミナー6本＋サウナ＋測定がそのまま申請書の実績になる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2E7D32"/>
                </a:solidFill>
                <a:latin typeface="Yu Gothic"/>
              </a:rPr>
              <a:t>▪ </a:t>
            </a:r>
            <a:r>
              <a:rPr sz="1300" b="0">
                <a:solidFill>
                  <a:srgbClr val="222222"/>
                </a:solidFill>
                <a:latin typeface="Yu Gothic"/>
              </a:rPr>
              <a:t>社員がイベントに乗ってこない ＝ サウナと睡眠測定は数少ない「社員が喜ぶ健康施策」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04  </a:t>
            </a:r>
            <a:r>
              <a:rPr sz="2200" b="1">
                <a:solidFill>
                  <a:srgbClr val="FFFFFF"/>
                </a:solidFill>
                <a:latin typeface="Yu Gothic"/>
              </a:rPr>
              <a:t>なぜ認定済み企業を狙うのか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Yu Gothic"/>
              </a:rPr>
              <a:t>同じ1時間の営業なら、どちらに使うべきか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389120"/>
                <a:gridCol w="4937760"/>
              </a:tblGrid>
              <a:tr h="512064"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未着手層（97%）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認定済み層（679社）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説明コスト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「健康経営とは」から。長い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不要。言葉が通じる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予算の意思決定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初めての決断＝重い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Yu Gothic"/>
                        </a:rPr>
                        <a:t>一度払った経験がある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競合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無料勢が強い（入口を席巻）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Yu Gothic"/>
                        </a:rPr>
                        <a:t>無料勢の空白地帯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（取得後の伴走は誰もやっていない）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痛みの明確さ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漠然（人手不足・離職）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明確（実感がない・更新が重い・弾切れ）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リスト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特定困難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Yu Gothic"/>
                        </a:rPr>
                        <a:t>名前が公開されている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＝名指しで営業できる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単価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低い（財布がない）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中〜高（研修費・福利厚生費の財布が既にある）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</a:rPr>
              <a:t>1名で伴走できるのは年5〜6社、初年度の成約目標は10〜20件。</a:t>
            </a:r>
          </a:p>
          <a:p>
            <a:pPr algn="l"/>
            <a:r>
              <a:rPr sz="1600" b="1">
                <a:solidFill>
                  <a:srgbClr val="1F3A5F"/>
                </a:solidFill>
                <a:latin typeface="Yu Gothic"/>
              </a:rPr>
              <a:t>必要数の30〜60倍の母集団が、名前つきで公開されている。狙わない理由がない。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05  </a:t>
            </a:r>
            <a:r>
              <a:rPr sz="2200" b="1">
                <a:solidFill>
                  <a:srgbClr val="FFFFFF"/>
                </a:solidFill>
                <a:latin typeface="Yu Gothic"/>
              </a:rPr>
              <a:t>SWOT分析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5486400" cy="2331720"/>
          </a:xfrm>
          <a:prstGeom prst="rect">
            <a:avLst/>
          </a:prstGeom>
          <a:solidFill>
            <a:srgbClr val="E8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72200" y="1234440"/>
            <a:ext cx="5486400" cy="23317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703320"/>
            <a:ext cx="5486400" cy="2331720"/>
          </a:xfrm>
          <a:prstGeom prst="rect">
            <a:avLst/>
          </a:prstGeom>
          <a:solidFill>
            <a:srgbClr val="E8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3703320"/>
            <a:ext cx="5486400" cy="23317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Yu Gothic"/>
              </a:rPr>
              <a:t>強み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1206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元アクサの実務経験＝無料勢のやり方を内側から知っている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サウナ・ランドリー・施工部隊・寝具代理店＝「実感」を現物で売れる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自社が認定企業＝顧客と同じ痛みを体験済み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地域の信頼と既存取引網（最初の10社の源泉）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30759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  <a:latin typeface="Yu Gothic"/>
              </a:rPr>
              <a:t>弱み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51206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ウェルネス事業としては実績ゼロ・無名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担当1名（伴走上限5〜6社が物理限界）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保険募集は不可＝保険収益は計画に入れない（FP相談・提携紹介まで）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サウナ・睡眠に企業が金を払うかは未実証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7647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Yu Gothic"/>
              </a:rPr>
              <a:t>機会 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51206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認定中小が6年で7.5倍に急増（90→679社）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国が「睡眠」を評価軸に追加（令和5年度〜）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仮眠室に助成金（最大3/4補助・上限120万）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「取得後の伴走」市場はどの競合も手つかず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776472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62828"/>
                </a:solidFill>
                <a:latin typeface="Yu Gothic"/>
              </a:rPr>
              <a:t>脅威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160520"/>
            <a:ext cx="51206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無料支援（保険会社×商工会議所）が入口を席巻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中小の予算は薄く、高単価は通りにくい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継続率90%割れ＝ストック収益の土台が崩壊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E7D32"/>
                </a:solidFill>
                <a:latin typeface="Yu Gothic"/>
              </a:rPr>
              <a:t>▪ </a:t>
            </a:r>
            <a:r>
              <a:rPr sz="1050" b="0">
                <a:solidFill>
                  <a:srgbClr val="222222"/>
                </a:solidFill>
                <a:latin typeface="Yu Gothic"/>
              </a:rPr>
              <a:t>本業（施工）の繁忙と人手の取り合い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Yu Gothic"/>
              </a:rPr>
              <a:t>S×O＝実感の有償化（体験×測定×施工）／ W×T＝入口は無料勢に譲り、保険は売らない（中立の証明に転換）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06  </a:t>
            </a:r>
            <a:r>
              <a:rPr sz="2200" b="1">
                <a:solidFill>
                  <a:srgbClr val="FFFFFF"/>
                </a:solidFill>
                <a:latin typeface="Yu Gothic"/>
              </a:rPr>
              <a:t>商品と価格 ― 財布を分けて売る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Yu Gothic"/>
              </a:rPr>
              <a:t>月5万均一の顧問一本足は廃止。研修費・福利厚生費・採用広報費・個人財布に分散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572000"/>
                <a:gridCol w="2926080"/>
                <a:gridCol w="219456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階段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商品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価格（税別）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取りにいく財布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入口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社長の睡眠測定 ／ 社員割引カード ／ 単発セミナー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1〜3万 ／ 年1.2万 ／ 5〜8万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個人・研修費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成果報酬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認定取得・更新パック（取れなければ後金なし）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30万（15万＋成功時15万）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採用広報費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継続（低）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ライト顧問（チャット無制限＋四半期訪問＋更新伴走）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月1.5万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顧問料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継続（中）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年間ウェルネスパック（セミナー6回＋測定＋サウナ）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48万/年 前受け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研修費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継続（高）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プレミアム顧問（12ヶ月カレンダー契約書明記）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月5万・30人以上・上限5〜6社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研修＋福利厚生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体験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KOWA SAUNA法人契約（貴社デー／回数券／割引カード）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月2.5〜4.5万 ／ 20回2.6万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福利厚生費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物販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ブレインスリープ優待販売（契約企業の社員特典）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定価の80%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社員の個人財布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設備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仮眠室・サウナ設置工事（光和工業施工）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35〜300万＋助成金で実質圧縮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設備投資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07  </a:t>
            </a:r>
            <a:r>
              <a:rPr sz="2200" b="1">
                <a:solidFill>
                  <a:srgbClr val="FFFFFF"/>
                </a:solidFill>
                <a:latin typeface="Yu Gothic"/>
              </a:rPr>
              <a:t>届ける価値 ―「うちはこんな健康経営やってるぞ」と言える会社にする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Yu Gothic"/>
              </a:rPr>
              <a:t>“実感”の正体は、社長が外で語れること。全商品を「自慢できる形」で納品する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</a:rPr>
              <a:t>ゴールは認定ロゴではない。社長が採用面接で、銀行で、同業の集まりで、胸を張って語れる状態。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514600"/>
          <a:ext cx="11064239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040879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社長が自慢できる瞬間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それを作る納品物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「うちの会社、サウナデーがあるんですよ」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KOWA SAUNA法人契約＋利用実績レポート（求人票・会社案内に書ける）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「社員全員、睡眠の通信簿を持ってます」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睡眠偏差値の全社測定＋ビフォー/アフターの改善グラフ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「うちには仮眠室があります」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仮眠室施工（助成金活用）＝見学に来た人が驚く現物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「銀行にこれを見せてます」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年1回の健康経営報告書（数値・施策・認定を1枚に。融資・入札・元請けに提示）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「求人票、他社と違うでしょ」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認定ロゴ＋サウナ・洗濯・睡眠の福利厚生を求人票・採用ページに落とし込み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「新聞に載ったんですよ」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地元メディア・商工会議所での事例発表をサポート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Yu Gothic"/>
              </a:rPr>
              <a:t>営業のクロージングは「1年後、社長は何を自慢できているか」を見せること。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08  </a:t>
            </a:r>
            <a:r>
              <a:rPr sz="2200" b="1">
                <a:solidFill>
                  <a:srgbClr val="FFFFFF"/>
                </a:solidFill>
                <a:latin typeface="Yu Gothic"/>
              </a:rPr>
              <a:t>売り方 ― 認定済みには「回収」、未着手には「健康経営と言わない」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394960" cy="4572000"/>
          </a:xfrm>
          <a:prstGeom prst="rect">
            <a:avLst/>
          </a:prstGeom>
          <a:solidFill>
            <a:srgbClr val="E8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49377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Yu Gothic"/>
              </a:rPr>
              <a:t>A：認定済み企業（679社）</a:t>
            </a:r>
          </a:p>
          <a:p>
            <a:pPr algn="l"/>
            <a:r>
              <a:rPr sz="1300" b="1">
                <a:solidFill>
                  <a:srgbClr val="1F3A5F"/>
                </a:solidFill>
                <a:latin typeface="Yu Gothic"/>
              </a:rPr>
              <a:t>「取った認定を回収しましょう」</a:t>
            </a:r>
          </a:p>
          <a:p>
            <a:pPr algn="l"/>
            <a:r>
              <a:rPr sz="500" b="0">
                <a:solidFill>
                  <a:srgbClr val="666666"/>
                </a:solidFill>
                <a:latin typeface="Yu Gothic"/>
              </a:rPr>
              <a:t/>
            </a:r>
          </a:p>
          <a:p>
            <a:pPr algn="l"/>
            <a:r>
              <a:rPr sz="1150" b="0">
                <a:solidFill>
                  <a:srgbClr val="222222"/>
                </a:solidFill>
                <a:latin typeface="Yu Gothic"/>
              </a:rPr>
              <a:t>痛み：認定は取ったが変わらない／毎年の申請が重い／施策の弾切れ／社員が乗ってこない</a:t>
            </a:r>
          </a:p>
          <a:p>
            <a:pPr algn="l"/>
            <a:r>
              <a:rPr sz="500" b="0">
                <a:solidFill>
                  <a:srgbClr val="666666"/>
                </a:solidFill>
                <a:latin typeface="Yu Gothic"/>
              </a:rPr>
              <a:t/>
            </a:r>
          </a:p>
          <a:p>
            <a:pPr algn="l"/>
            <a:r>
              <a:rPr sz="1150" b="1">
                <a:solidFill>
                  <a:srgbClr val="222222"/>
                </a:solidFill>
                <a:latin typeface="Yu Gothic"/>
              </a:rPr>
              <a:t>武器：認定調査票の項目×セミナー6本の対応表——「今年の申請書の実施実績、これで全部埋まります」</a:t>
            </a:r>
          </a:p>
          <a:p>
            <a:pPr algn="l"/>
            <a:r>
              <a:rPr sz="500" b="0">
                <a:solidFill>
                  <a:srgbClr val="666666"/>
                </a:solidFill>
                <a:latin typeface="Yu Gothic"/>
              </a:rPr>
              <a:t/>
            </a:r>
          </a:p>
          <a:p>
            <a:pPr algn="l"/>
            <a:r>
              <a:rPr sz="1150" b="0">
                <a:solidFill>
                  <a:srgbClr val="222222"/>
                </a:solidFill>
                <a:latin typeface="Yu Gothic"/>
              </a:rPr>
              <a:t>順番：社員割引カード→サウナデー→年間パック→施工</a:t>
            </a:r>
          </a:p>
          <a:p>
            <a:pPr algn="l"/>
            <a:r>
              <a:rPr sz="1100" b="0">
                <a:solidFill>
                  <a:srgbClr val="666666"/>
                </a:solidFill>
                <a:latin typeface="Yu Gothic"/>
              </a:rPr>
              <a:t>30秒トーク：「認定企業さんを回っていると皆さんおっしゃるんです——取ったはいいけど何も変わらないと。実はうちも同じでした」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80160"/>
            <a:ext cx="5394960" cy="4572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417320"/>
            <a:ext cx="49377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Yu Gothic"/>
              </a:rPr>
              <a:t>B：未着手層（97%）</a:t>
            </a:r>
          </a:p>
          <a:p>
            <a:pPr algn="l"/>
            <a:r>
              <a:rPr sz="1300" b="1">
                <a:solidFill>
                  <a:srgbClr val="C62828"/>
                </a:solidFill>
                <a:latin typeface="Yu Gothic"/>
              </a:rPr>
              <a:t>「健康経営」と言わずに売る</a:t>
            </a:r>
          </a:p>
          <a:p>
            <a:pPr algn="l"/>
            <a:r>
              <a:rPr sz="500" b="0">
                <a:solidFill>
                  <a:srgbClr val="666666"/>
                </a:solidFill>
                <a:latin typeface="Yu Gothic"/>
              </a:rPr>
              <a:t/>
            </a:r>
          </a:p>
          <a:p>
            <a:pPr algn="l"/>
            <a:r>
              <a:rPr sz="1150" b="0">
                <a:solidFill>
                  <a:srgbClr val="222222"/>
                </a:solidFill>
                <a:latin typeface="Yu Gothic"/>
              </a:rPr>
              <a:t>「求人出しても来ない」→ 求人票に書ける福利厚生パック</a:t>
            </a:r>
          </a:p>
          <a:p>
            <a:pPr algn="l"/>
            <a:r>
              <a:rPr sz="1150" b="0">
                <a:solidFill>
                  <a:srgbClr val="222222"/>
                </a:solidFill>
                <a:latin typeface="Yu Gothic"/>
              </a:rPr>
              <a:t>「若手が辞めた」→ 社員が辞めない会社づくりセミナー</a:t>
            </a:r>
          </a:p>
          <a:p>
            <a:pPr algn="l"/>
            <a:r>
              <a:rPr sz="1150" b="1">
                <a:solidFill>
                  <a:srgbClr val="222222"/>
                </a:solidFill>
                <a:latin typeface="Yu Gothic"/>
              </a:rPr>
              <a:t>「最近眠れなくて」→ 社長の睡眠測定（1〜3万）＝標準初回商品</a:t>
            </a:r>
          </a:p>
          <a:p>
            <a:pPr algn="l"/>
            <a:r>
              <a:rPr sz="1150" b="0">
                <a:solidFill>
                  <a:srgbClr val="222222"/>
                </a:solidFill>
                <a:latin typeface="Yu Gothic"/>
              </a:rPr>
              <a:t>「労災が怖い」→ 睡眠×安全衛生セミナー（安全大会の講師枠）</a:t>
            </a:r>
          </a:p>
          <a:p>
            <a:pPr algn="l"/>
            <a:r>
              <a:rPr sz="500" b="0">
                <a:solidFill>
                  <a:srgbClr val="666666"/>
                </a:solidFill>
                <a:latin typeface="Yu Gothic"/>
              </a:rPr>
              <a:t/>
            </a:r>
          </a:p>
          <a:p>
            <a:pPr algn="l"/>
            <a:r>
              <a:rPr sz="1150" b="1">
                <a:solidFill>
                  <a:srgbClr val="C62828"/>
                </a:solidFill>
                <a:latin typeface="Yu Gothic"/>
              </a:rPr>
              <a:t>使わない言葉：健康経営／ウェルネス／エンゲージメント</a:t>
            </a:r>
          </a:p>
          <a:p>
            <a:pPr algn="l"/>
            <a:r>
              <a:rPr sz="1150" b="0">
                <a:solidFill>
                  <a:srgbClr val="222222"/>
                </a:solidFill>
                <a:latin typeface="Yu Gothic"/>
              </a:rPr>
              <a:t>使う言葉：「求人票に書ける福利厚生」「社長の睡眠の通信簿」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09  </a:t>
            </a:r>
            <a:r>
              <a:rPr sz="2200" b="1">
                <a:solidFill>
                  <a:srgbClr val="FFFFFF"/>
                </a:solidFill>
                <a:latin typeface="Yu Gothic"/>
              </a:rPr>
              <a:t>睡眠計測の実務 ―「測って、施策して、また測る」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114800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方式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やり方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使いどころ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① アンケート式
（睡眠偏差値）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医療の問診ベース・専門家監修のWebアンケート。全国1万人データと比較し「偏差値」で数値化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全社一斉の初回測定・体験会。会社の「睡眠の通信簿」として経営報告に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② デバイス式
（ブレインスリープ コイン）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クリップ型デバイスをパジャマに着けて寝るだけ。睡眠ステージ・いびき・寝姿勢・寝床内温度をアプリに記録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社長個人の精密測定（入口商品）、施策前後のビフォー/アフター検証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4389120"/>
            <a:ext cx="11064240" cy="1554480"/>
          </a:xfrm>
          <a:prstGeom prst="rect">
            <a:avLst/>
          </a:prstGeom>
          <a:solidFill>
            <a:srgbClr val="E8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Yu Gothic"/>
              </a:rPr>
              <a:t>運用の型（これが商売の中身）</a:t>
            </a:r>
          </a:p>
          <a:p>
            <a:pPr algn="l"/>
            <a:r>
              <a:rPr sz="1350" b="0">
                <a:solidFill>
                  <a:srgbClr val="222222"/>
                </a:solidFill>
                <a:latin typeface="Yu Gothic"/>
              </a:rPr>
              <a:t>①で全社の現状を数値化 → セミナー・サウナ・寝具で施策 → 3ヶ月後に再測定 → 変化を経営報告書に。</a:t>
            </a:r>
          </a:p>
          <a:p>
            <a:pPr algn="l"/>
            <a:r>
              <a:rPr sz="1350" b="1">
                <a:solidFill>
                  <a:srgbClr val="1F3A5F"/>
                </a:solidFill>
                <a:latin typeface="Yu Gothic"/>
              </a:rPr>
              <a:t>8月にまず自社の社員で一巡やる。その結果が最初の営業資料であり、最初の「自慢」になる。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10  </a:t>
            </a:r>
            <a:r>
              <a:rPr sz="2200" b="1">
                <a:solidFill>
                  <a:srgbClr val="FFFFFF"/>
                </a:solidFill>
                <a:latin typeface="Yu Gothic"/>
              </a:rPr>
              <a:t>収支計画 ― 保守シナリオ（保険収益ゼロ前提）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38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099"/>
                <a:gridCol w="3212198"/>
                <a:gridCol w="3212198"/>
                <a:gridCol w="3033743"/>
              </a:tblGrid>
              <a:tr h="566928">
                <a:tc>
                  <a:txBody>
                    <a:bodyPr wrap="square"/>
                    <a:lstStyle/>
                    <a:p/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1年目（2026.8〜）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2年目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3年目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位置づけ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仕込み。赤字は織り込み済み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Yu Gothic"/>
                        </a:rPr>
                        <a:t>責任者給与の自給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Yu Gothic"/>
                        </a:rPr>
                        <a:t>年収500万の原資づくり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やること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自社実証＋事例2〜3件＋駆け込み認定支援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認定8件＋顧問12社＋継続3社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ストック積層・更新の定型化・施工送客5〜6件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貢献利益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270〜350万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約646万（計画比72%でも自給ライン465万に到達）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650〜750万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48640" y="3931920"/>
            <a:ext cx="11064240" cy="2103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10515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Yu Gothic"/>
              </a:rPr>
              <a:t>保険方針の変更に伴う修正（正直に）</a:t>
            </a:r>
          </a:p>
          <a:p>
            <a:pPr algn="l"/>
            <a:r>
              <a:rPr sz="1250" b="0">
                <a:solidFill>
                  <a:srgbClr val="222222"/>
                </a:solidFill>
                <a:latin typeface="Yu Gothic"/>
              </a:rPr>
              <a:t>従来3年目に見込んでいた保険手数料（約230万）は削除。穴埋めは ①施工送客の粗利の一部を事業部に内部振替 ②顧問の積み増し ③物販拡大。</a:t>
            </a:r>
          </a:p>
          <a:p>
            <a:pPr algn="l"/>
            <a:r>
              <a:rPr sz="1300" b="1">
                <a:solidFill>
                  <a:srgbClr val="1F3A5F"/>
                </a:solidFill>
                <a:latin typeface="Yu Gothic"/>
              </a:rPr>
              <a:t>この結果、年収500万は「3年目挑戦・4年目現実」に再設定。第1目標（2年目の自給）への影響は軽微。</a:t>
            </a:r>
          </a:p>
          <a:p>
            <a:pPr algn="l"/>
            <a:r>
              <a:rPr sz="1250" b="0">
                <a:solidFill>
                  <a:srgbClr val="222222"/>
                </a:solidFill>
                <a:latin typeface="Yu Gothic"/>
              </a:rPr>
              <a:t>給与：基本給 月27万を12ヶ月フル保証＋粗利連動歩合（上限なし）。基本給改定（月30万）は「単月黒字2四半期連続」の数字基準で判断。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11  </a:t>
            </a:r>
            <a:r>
              <a:rPr sz="2200" b="1">
                <a:solidFill>
                  <a:srgbClr val="FFFFFF"/>
                </a:solidFill>
                <a:latin typeface="Yu Gothic"/>
              </a:rPr>
              <a:t>90日アクションプラン ― まず自社で「自慢できる状態」を作る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692640"/>
              </a:tblGrid>
              <a:tr h="658367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時期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やること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658367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7月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福利厚生規程の改定（社員優待販売＋サウナ利用）／提携社労士・税理士の確保／ブレインスリープ卸条件・サウナ実料金の確定／歩合率の最終合意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8367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8月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事業開始。自社社員の睡眠測定（before値）→優待販売会。自社に仮眠スペースをモデル施工（ショールーム化）。労働局へ助成金の事前照会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658367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9月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自社事例を1枚資料化（=最初の自慢）。認定済み10社へ「社員割引カード＋見学会」で初回接触。駆け込み認定支援2〜3件（10月締切）を最優先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658371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10月〜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Yu Gothic"/>
                        </a:rPr>
                        <a:t>サウナデー3社・施工商談2件。90日レビューで仮置き数値（卸率・料金・助成金）を実績で更新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3A5F"/>
                </a:solidFill>
                <a:latin typeface="Yu Gothic"/>
              </a:rPr>
              <a:t>90日のゴール：</a:t>
            </a:r>
            <a:r>
              <a:rPr sz="1500" b="1">
                <a:solidFill>
                  <a:srgbClr val="222222"/>
                </a:solidFill>
                <a:latin typeface="Yu Gothic"/>
              </a:rPr>
              <a:t>「うちはこんな健康経営やってるぞ」を、まず光和工業自身が言える状態にする。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12  </a:t>
            </a:r>
            <a:r>
              <a:rPr sz="2200" b="1">
                <a:solidFill>
                  <a:srgbClr val="FFFFFF"/>
                </a:solidFill>
                <a:latin typeface="Yu Gothic"/>
              </a:rPr>
              <a:t>最悪の場合 ― 撤退ラインを先に決めておく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Yu Gothic"/>
              </a:rPr>
              <a:t>撤退ラインは「諦めの基準」ではなく「安心して挑戦するための保険」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6423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79"/>
                <a:gridCol w="4754879"/>
                <a:gridCol w="4754879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段階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発動条件（数字で判定）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やること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【黄】軌道修正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・開始3ヶ月で体験・測定の実施が5件未満
・パイロット企業の内諾がゼロ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商品・価格・営業先を見直す。早く手を打つための警報。月次面談で一緒に原因分析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【橙】縮小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・6ヶ月で有償契約ゼロ、累計売上100万円未満
・セミナーの有償化がゼロ
・体験→有償契約への転換が1件もない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新規開拓を一旦止め、既存客と自社実証に集中。売れている商品だけに絞る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【赤】撤退判断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・初年度末 売上150万円未満かつ翌年見込みが枯渇
・継続課金（2回目以降）が初年度ゼロ
・2年連続で継続率90%割れ
・責任者の兼務過多で本体業務や健康に支障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Yu Gothic"/>
                        </a:rPr>
                        <a:t>代表が撤退・凍結を判断する。責任者一人の責任にはしない。判断材料の数字だけは正直に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5257800"/>
            <a:ext cx="11064240" cy="1097280"/>
          </a:xfrm>
          <a:prstGeom prst="rect">
            <a:avLst/>
          </a:prstGeom>
          <a:solidFill>
            <a:srgbClr val="E8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37667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Yu Gothic"/>
              </a:rPr>
              <a:t>撤退しても全損にはならない：サウナ法人契約・施工・物販は本業に吸収して継続できる。消えるのはコンサル部分だけ。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9FC5A0"/>
                </a:solidFill>
                <a:latin typeface="Yu Gothic"/>
              </a:rPr>
              <a:t>13  </a:t>
            </a:r>
            <a:r>
              <a:rPr sz="2200" b="1">
                <a:solidFill>
                  <a:srgbClr val="FFFFFF"/>
                </a:solidFill>
                <a:latin typeface="Yu Gothic"/>
              </a:rPr>
              <a:t>体制と保険方針（確定）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内容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事業責任者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小林 舞（健康経営エキスパートアドバイザー／2級FP技能士）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社内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佐藤代表（撤退判断・本体資産の提供・人脈同行）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社外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提携社労士（助成金）／税理士（税務）／提携保険代理店（紹介先）／商工会議所・協会けんぽ宮城支部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保険方針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  <a:latin typeface="Yu Gothic"/>
                        </a:rPr>
                        <a:t>保険募集は行わない。代理店登録もしない。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 FPとしての一般的な相談と、提携代理店への顧客紹介（商品説明・勧誘なし）まで</a:t>
                      </a:r>
                    </a:p>
                  </a:txBody>
                  <a:tcPr marL="54864" marR="54864" marT="18288" marB="18288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それが武器になる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Yu Gothic"/>
                        </a:rPr>
                        <a:t>「うちは保険を売りません。だから本当に必要なことだけお勧めできます」＝無料勢（保険で回収）への最強の差別化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"/>
              </a:rPr>
              <a:t>まとめ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10332720" cy="3657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9FC5A0"/>
                </a:solidFill>
                <a:latin typeface="Yu Gothic"/>
              </a:rPr>
              <a:t>▪ </a:t>
            </a:r>
            <a:r>
              <a:rPr sz="1600" b="0">
                <a:solidFill>
                  <a:srgbClr val="FFFFFF"/>
                </a:solidFill>
                <a:latin typeface="Yu Gothic"/>
              </a:rPr>
              <a:t>狙いは「認定を取ったのに実感がない」679社。ゼロから啓蒙しない。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9FC5A0"/>
                </a:solidFill>
                <a:latin typeface="Yu Gothic"/>
              </a:rPr>
              <a:t>▪ </a:t>
            </a:r>
            <a:r>
              <a:rPr sz="1600" b="0">
                <a:solidFill>
                  <a:srgbClr val="FFFFFF"/>
                </a:solidFill>
                <a:latin typeface="Yu Gothic"/>
              </a:rPr>
              <a:t>売るのは書類ではなく「実感」と「自慢」。社員には数字の変化を、社長には語れるストーリーを。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9FC5A0"/>
                </a:solidFill>
                <a:latin typeface="Yu Gothic"/>
              </a:rPr>
              <a:t>▪ </a:t>
            </a:r>
            <a:r>
              <a:rPr sz="1600" b="0">
                <a:solidFill>
                  <a:srgbClr val="FFFFFF"/>
                </a:solidFill>
                <a:latin typeface="Yu Gothic"/>
              </a:rPr>
              <a:t>財布を分けて売る：研修費・福利厚生費・採用広報費・社員の個人財布。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9FC5A0"/>
                </a:solidFill>
                <a:latin typeface="Yu Gothic"/>
              </a:rPr>
              <a:t>▪ </a:t>
            </a:r>
            <a:r>
              <a:rPr sz="1600" b="0">
                <a:solidFill>
                  <a:srgbClr val="FFFFFF"/>
                </a:solidFill>
                <a:latin typeface="Yu Gothic"/>
              </a:rPr>
              <a:t>保険は売らない。それを中立の証明として、堂々と武器にする。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9FC5A0"/>
                </a:solidFill>
                <a:latin typeface="Yu Gothic"/>
              </a:rPr>
              <a:t>▪ </a:t>
            </a:r>
            <a:r>
              <a:rPr sz="1600" b="0">
                <a:solidFill>
                  <a:srgbClr val="FFFFFF"/>
                </a:solidFill>
                <a:latin typeface="Yu Gothic"/>
              </a:rPr>
              <a:t>施工（仮眠室・サウナ＋助成金）でウェルネスが本業に送客する、光和にしかない循環。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9FC5A0"/>
                </a:solidFill>
                <a:latin typeface="Yu Gothic"/>
              </a:rPr>
              <a:t>▪ </a:t>
            </a:r>
            <a:r>
              <a:rPr sz="1600" b="0">
                <a:solidFill>
                  <a:srgbClr val="FFFFFF"/>
                </a:solidFill>
                <a:latin typeface="Yu Gothic"/>
              </a:rPr>
              <a:t>まず自社で実証 → 「うちはこんな健康経営やってるぞ」を自分たちが言えるようになってから、売る。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FC5A0"/>
                </a:solidFill>
                <a:latin typeface="Yu Gothic"/>
              </a:rPr>
              <a:t>第1目標：2年目に給料の自給　→　最終目標：年収500万円（3〜4年計画）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