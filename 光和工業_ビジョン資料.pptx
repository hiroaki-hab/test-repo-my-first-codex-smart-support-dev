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3172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331720"/>
            <a:ext cx="12191695" cy="109728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社員のみなさんへ ／ 2026年8月 新体制から、その先へ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光和工業は、こう変わる。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C5F2D"/>
                </a:solidFill>
              </a:rPr>
              <a:t>住まいを直す会社から、</a:t>
            </a:r>
            <a:endParaRPr lang="en-US" sz="2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36454F"/>
                </a:solidFill>
              </a:rPr>
              <a:t>“暮らしと健康”をつくる会社へ。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積水ハウス不動産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44952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42E"/>
                </a:solidFill>
              </a:rPr>
              <a:t>ランドリー moco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75504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A"/>
                </a:solidFill>
              </a:rPr>
              <a:t>KÖWA SAUNA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06056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5A"/>
                </a:solidFill>
              </a:rPr>
              <a:t>ウェルネス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36608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7A3E"/>
                </a:solidFill>
              </a:rPr>
              <a:t>飲食（カフェ）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有限会社 光和工業（宮城県黒川郡大和町・1997年創業）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これまでの私たち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リフォーム屋として、約30年で積み上げてきたもの。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1997年、大和町で創業。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積水ハウス不動産の原状回復・リノベを支えるリフォーム屋として。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5234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培ったのは「空間を直す技術」。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退去・原状回復・アフター・定期巡回 ― 現場の段取り力と確かな手仕事。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53872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そして何より、信頼。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任せてもらえる関係を、一件ずつ積み重ねてきた。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0" y="1965960"/>
            <a:ext cx="3749040" cy="233172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この「土台」は、消えない。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 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F0E6"/>
                </a:solidFill>
              </a:rPr>
              <a:t>これから始まるすべての新しい事業は、この技術と信頼の上に建っています。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36454F"/>
                </a:solidFill>
              </a:rPr>
              <a:t>変わるのは「やること」が増えること。変わらないのは、ものづくりへの誠実さ。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会社の実績と体制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取引先と、拠点と、現場の力。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主な取引先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・積水ハウス不動産（PM）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・株式会社 山一地所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・サステム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・LIXILトータルサービス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・自社アパートの賃貸運営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45152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拠点（すべて自社所有）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85292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・本社：大和町 杜の丘1丁目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・ランドリー：仙台市青葉区立町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・アパート：仙台市青葉区立町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地元・大和町に根を張りつつ、仙台にも拠点を持つ。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375904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現場の力（事業モデル）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5904" y="285292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売上の約6割を協力業者と分担する「施工管理型」。自社で工程管理ができる段取り力と、急な原状回復にも応える対応力が強み。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51663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創業以来の取引先との信頼が、そのまま新しい事業の“入口”になる。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なぜ、いま変わるのか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世の中が変わっている。だから私たちも動く。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地方は、人口減と担い手不足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単一の下請けだけでは、会社の未来が「一社の事情」に左右されてしまう。積水からの発注も近年は減少傾向。事業の柱を増やすことは、みんなの雇用を守ること。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45152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時代は「健康・ととのう」へ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89864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サウナ・睡眠・健康経営は、いま社会全体が求めている価値。私たちの強みを活かせる大きな波が来ている。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375904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技術と人を、もっと広い世界へ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5904" y="2898648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「空間を直す力」と現場の人材は、住まいの外でも通用する。眠らせておくのはもったいない。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新しい私たちの姿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5つの事業で、暮らしを多面的に支える。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積水ハウス不動産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本業。積水・山一・LIXILの工事を受託。すべての土台。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5351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ランドリー moco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コインランドリー＋穀物乾燥機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53512" y="30632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moco運営。AQUA/TOSEI代理店で機器販売も。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379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KÖWA SAUNA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完全貸切プライベートサウナ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93792" y="30632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kokolo製。月額2万・週2回の貸切サブスク。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3407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ウェルネス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健康経営／保険・睡眠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34072" y="30632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BrainSleep代理店。健康経営支援から保険まで。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7435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飲食（カフェ）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アニマルフレンドリーカフェ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74352" y="30632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売上の一部を動物保護へ。杜の丘で出店予定。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454F"/>
                </a:solidFill>
              </a:rPr>
              <a:t>「いろいろやっている」のではありません。</a:t>
            </a:r>
            <a:pPr algn="ctr" indent="0" marL="0">
              <a:buNone/>
            </a:pPr>
            <a:r>
              <a:rPr lang="en-US" sz="1700" b="1" dirty="0">
                <a:solidFill>
                  <a:srgbClr val="2C5F2D"/>
                </a:solidFill>
              </a:rPr>
              <a:t>ぜんぶ、つながっています。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有限会社 光和工業　組織図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646920" y="25603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2026年8月 新体制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023360" y="960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代表取締役　佐藤 広顕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DE6DD"/>
                </a:solidFill>
              </a:rPr>
              <a:t>総括・一般／LIXILリフォーム／サウナ事業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49640" y="960120"/>
            <a:ext cx="3246120" cy="777240"/>
          </a:xfrm>
          <a:prstGeom prst="roundRect">
            <a:avLst>
              <a:gd name="adj" fmla="val 9412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専務　佐藤 美慧（みえ）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6E0E2"/>
                </a:solidFill>
              </a:rPr>
              <a:t>内務総括／支払管理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138160" y="1348740"/>
            <a:ext cx="411480" cy="0"/>
          </a:xfrm>
          <a:prstGeom prst="line">
            <a:avLst/>
          </a:prstGeom>
          <a:noFill/>
          <a:ln w="19050">
            <a:solidFill>
              <a:srgbClr val="36454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080760" y="1737360"/>
            <a:ext cx="0" cy="658368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2395728"/>
            <a:ext cx="914400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92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378440" y="2395728"/>
            <a:ext cx="0" cy="347472"/>
          </a:xfrm>
          <a:prstGeom prst="line">
            <a:avLst/>
          </a:prstGeom>
          <a:noFill/>
          <a:ln w="254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積水ハウス不動産部門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退去・原状回復・リノベ／本業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高山（退去担当）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泰弘（アフター・リノベ）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2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猪股（定巡担当）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" y="4663440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渡邊（退去担当・内務）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5047488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吉田（定巡担当・内務）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" y="543153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油谷（定巡補佐・雑務）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68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ランドリー事業部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 moco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佐々 寛樹（事業部長）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68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赤間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468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猪股（補佐・兼務）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4681728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9742E"/>
                </a:solidFill>
              </a:rPr>
              <a:t>新規（7月〜）：朝日製作所より農業用穀物乾燥機の組立を請負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54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サウナ事業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KÖWA SAUNA／社長直轄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佐藤 広顕（統括）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54880" y="3913632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8C3B4A"/>
                </a:solidFill>
              </a:rPr>
              <a:t>リフォーム屋が本気で作る完全貸切プライベートサウナ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040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ウェルネス事業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健康経営コンサル／保険相談・8月〜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小林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3913632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8C5A"/>
                </a:solidFill>
              </a:rPr>
              <a:t>BrainSleep代理店。健康経営支援を軸に保険相談まで。福利厚生提案（休憩室・寝具）でサウナ・寝具の営業も兼ねる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9326880" y="2743200"/>
            <a:ext cx="2103120" cy="658368"/>
          </a:xfrm>
          <a:prstGeom prst="roundRect">
            <a:avLst>
              <a:gd name="adj" fmla="val 8333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飲食事業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2F2F2"/>
                </a:solidFill>
              </a:rPr>
              <a:t>パニーニ／杜の丘・2年後本格稼働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326880" y="3511296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細谷（中心）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326880" y="3895344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佐藤 美慧（サポート）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26880" y="4279392"/>
            <a:ext cx="21031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6454F"/>
                </a:solidFill>
              </a:rPr>
              <a:t>油谷（サポート）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326880" y="4681728"/>
            <a:ext cx="2103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B07A3E"/>
                </a:solidFill>
              </a:rPr>
              <a:t>アニマルフレンドリーカフェ。売上の一部を動物保護団体へ寄付。POPUP→クラファン→2年後に店舗出店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858000" y="3072384"/>
            <a:ext cx="182880" cy="0"/>
          </a:xfrm>
          <a:prstGeom prst="line">
            <a:avLst/>
          </a:prstGeom>
          <a:noFill/>
          <a:ln w="15875">
            <a:solidFill>
              <a:srgbClr val="36454F"/>
            </a:solidFill>
            <a:prstDash val="dash"/>
            <a:headEnd type="triangl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A8A"/>
                </a:solidFill>
              </a:rPr>
              <a:t>有限会社 光和工業（宮城県黒川郡大和町・1997年創業）　油谷：積水定巡を軸にサウナ・飲食・穀物乾燥機組立を横断サポート（JA新みやぎ18年・フォークリフト有）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5つは、ひとつの糸でつながる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直す → 整える → 憩う → 健康に → 集う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C7293"/>
                </a:solidFill>
              </a:rPr>
              <a:t>直す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積水ハウス不動産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空間を直す技術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606040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871216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9742E"/>
                </a:solidFill>
              </a:rPr>
              <a:t>整える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ランドリー／乾燥機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日常と産業を支える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18888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084064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8C3B4A"/>
                </a:solidFill>
              </a:rPr>
              <a:t>憩う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KÖWA SAUNA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ととのう体験へ昇華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031736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296912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5B8C5A"/>
                </a:solidFill>
              </a:rPr>
              <a:t>健康に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ウェルネス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心と体の健康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244584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9509760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B07A3E"/>
                </a:solidFill>
              </a:rPr>
              <a:t>集う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飲食カフェ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人と地域がつながる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4400" y="452628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縦糸 ＝ 技術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6F0E6"/>
                </a:solidFill>
              </a:rPr>
              <a:t>「直す力」を、整える・憩う・健康にする力へと育てていく。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09360" y="4526280"/>
            <a:ext cx="4983480" cy="1280160"/>
          </a:xfrm>
          <a:prstGeom prst="roundRect">
            <a:avLst>
              <a:gd name="adj" fmla="val 7143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横糸 ＝ 地域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DEDEF"/>
                </a:solidFill>
              </a:rPr>
              <a:t>大和町・宮城の暮らしを、住・健康・食・産業で多面的に支える。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5事業は、こう連携する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事業どうしが、お客様と仕事を渡し合う。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152144" y="191109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7293"/>
                </a:solidFill>
              </a:rPr>
              <a:t>積水 × サウナ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52144" y="233172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賃貸オーナーに「サウナ付き物件」を提案。原状回復の延長で、付加価値リノベに。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9632" y="187452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91109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742E"/>
                </a:solidFill>
              </a:rPr>
              <a:t>リフォーム × ランドリー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37376" y="233172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アパート・店舗にコインランドリーや業務用機器（AQUA/TOSEI）を設備提案。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20040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8C3B4A"/>
          </a:solidFill>
          <a:ln/>
        </p:spPr>
      </p:sp>
      <p:sp>
        <p:nvSpPr>
          <p:cNvPr id="13" name="Text 11"/>
          <p:cNvSpPr/>
          <p:nvPr/>
        </p:nvSpPr>
        <p:spPr>
          <a:xfrm>
            <a:off x="1152144" y="323697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C3B4A"/>
                </a:solidFill>
              </a:rPr>
              <a:t>サウナ × ウェルネス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52144" y="365760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企業の福利厚生にサウナ利用。BrainSleepの睡眠×サウナで「ととのう＋眠る」。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9632" y="320040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16" name="Text 14"/>
          <p:cNvSpPr/>
          <p:nvPr/>
        </p:nvSpPr>
        <p:spPr>
          <a:xfrm>
            <a:off x="6437376" y="323697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8C5A"/>
                </a:solidFill>
              </a:rPr>
              <a:t>ウェルネス × サウナ／ランドリー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37376" y="365760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健康経営・福利厚生の提案を入口に、サウナ・寝具・ランドリーも一緒に営業。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52628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B07A3E"/>
          </a:solidFill>
          <a:ln/>
        </p:spPr>
      </p:sp>
      <p:sp>
        <p:nvSpPr>
          <p:cNvPr id="19" name="Text 17"/>
          <p:cNvSpPr/>
          <p:nvPr/>
        </p:nvSpPr>
        <p:spPr>
          <a:xfrm>
            <a:off x="1152144" y="456285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7A3E"/>
                </a:solidFill>
              </a:rPr>
              <a:t>サウナ × カフェ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52144" y="498348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ととのった後の“サ飯”。杜の丘でサウナ＋カフェを一日の体験に。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4526280"/>
            <a:ext cx="109728" cy="1207008"/>
          </a:xfrm>
          <a:prstGeom prst="roundRect">
            <a:avLst>
              <a:gd name="adj" fmla="val 25000"/>
            </a:avLst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6437376" y="4562856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5F2D"/>
                </a:solidFill>
              </a:rPr>
              <a:t>ランドリー × 乾燥機 × 農業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37376" y="498348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穀物乾燥機の組立から農業設備へ。JA新みやぎの人脈を活かす。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世の中と、どうつながるか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私たちの仕事が、社会の課題とつながっていく。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7" name="Text 5"/>
          <p:cNvSpPr/>
          <p:nvPr/>
        </p:nvSpPr>
        <p:spPr>
          <a:xfrm>
            <a:off x="117043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8C5A"/>
                </a:solidFill>
              </a:rPr>
              <a:t>働く人の健康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7043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健康経営コンサル・BrainSleep の睡眠・保険相談で、企業と人の「元気」を支える。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742E"/>
                </a:solidFill>
              </a:rPr>
              <a:t>地域と産業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1967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コインランドリーは暮らしのインフラ。穀物乾燥機の組立（JA連携）で農業も支える。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B07A3E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7A3E"/>
                </a:solidFill>
              </a:rPr>
              <a:t>社会への還元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7043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アニマルフレンドリーカフェ。売上の一部を動物保護団体へ寄付し、地域の集いの場をつくる。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8C3B4A"/>
          </a:solidFill>
          <a:ln/>
        </p:spPr>
      </p:sp>
      <p:sp>
        <p:nvSpPr>
          <p:cNvPr id="16" name="Text 14"/>
          <p:cNvSpPr/>
          <p:nvPr/>
        </p:nvSpPr>
        <p:spPr>
          <a:xfrm>
            <a:off x="651967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C3B4A"/>
                </a:solidFill>
              </a:rPr>
              <a:t>誇りを、新しい価値に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1967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「リフォーム屋が本気で作る」サウナ。職人の誇りが、人を“ととのえる”体験になる。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KÖWA SAUNA を深掘り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8C3B4A"/>
                </a:solidFill>
              </a:rPr>
              <a:t>リフォーム屋が本気で作る、完全貸切サウナ。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2024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商品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07208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kokolo sauna 社製の PSE認証バレルサウナ＋水風呂＋冷却チラー。FSC認証の高品質な木材。住宅・敷地に合わせた柔軟設計。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645152" y="192024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ビジネスのかたち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807208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①月額2万円・週2回の貸切サブスク体験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②「入ってから買える」体験型ショールーム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③設備の販売・設置＋リフォーム一式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375904" y="192024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ねらう顧客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5904" y="2807208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自宅サウナを検討する30〜60代の健康志向・中高所得層。賃貸オーナー・工務店・設計事務所などBtoBも。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526280"/>
            <a:ext cx="10332720" cy="777240"/>
          </a:xfrm>
          <a:prstGeom prst="roundRect">
            <a:avLst>
              <a:gd name="adj" fmla="val 11765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競合との違い　</a:t>
            </a:r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DEDEF"/>
                </a:solidFill>
              </a:rPr>
              <a:t>HARVIA・メトス・MySauna（98〜176万）に対し、唯一「体験してから買える屋外モデル展示」で勝負。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54406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3B4A"/>
                </a:solidFill>
              </a:rPr>
              <a:t>顧客の声：「自宅に整う空間が欲しい」「実物を見て買いたい」「別荘・宿泊にサウナを」「整体・エステに整い要素を」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これから、広がりそうな事業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5つの事業の“となり”には、次の種がある。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3429000" cy="640080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住まい・不動産の“となり”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C7293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サウナ付き賃貸／ウェルネス住宅（自社アパート活用）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995928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C7293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空き家活用・オーナー提案型リノベ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45152" y="1965960"/>
            <a:ext cx="3429000" cy="640080"/>
          </a:xfrm>
          <a:prstGeom prst="roundRect">
            <a:avLst>
              <a:gd name="adj" fmla="val 1428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健康・くらしの“となり”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45152" y="2743200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5B8C5A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健康経営まるごとパッケージ（サウナ＋睡眠＋食）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3995928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5B8C5A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BrainSleep寝具・健康グッズの物販／法人提案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75904" y="1965960"/>
            <a:ext cx="3429000" cy="640080"/>
          </a:xfrm>
          <a:prstGeom prst="roundRect">
            <a:avLst>
              <a:gd name="adj" fmla="val 14286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ものづくり・地域の“となり”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75904" y="2743200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742E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農業・産業設備の組立受託（穀物乾燥機の先へ）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75904" y="3995928"/>
            <a:ext cx="3429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C9742E"/>
                </a:solidFill>
              </a:rPr>
              <a:t>● </a:t>
            </a:r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6454F"/>
                </a:solidFill>
              </a:rPr>
              <a:t>宿泊・グランピング・整体施設向けサウナ（BtoB）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どれも「いまの事業の延長線上」。無理な飛び地ではなく、地続きで広げていく。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これからの拠点・店舗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地域に、“光和の顔”が増えていく。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KÖWA SAUNA</a:t>
            </a:r>
            <a:endParaRPr lang="en-US" sz="15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完全貸切プライベートサウナ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社長直轄。リフォームの技術で作り込んだ空間で、「ととのう」を独り占めできる場所に。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45152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杜の丘 カフェ</a:t>
            </a:r>
            <a:endParaRPr lang="en-US" sz="15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POPUP → クラファン → 2年後に店舗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852928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アニマルフレンドリーカフェ。まず試し、応援を集め、地域に根づく店へ育てていく。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375904" y="196596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ウェルネス拠点</a:t>
            </a:r>
            <a:endParaRPr lang="en-US" sz="15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健康経営・保険・睡眠（8月〜）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75904" y="2852928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休憩室や寝具の福利厚生提案を入口に、サウナ・寝具の営業ともつながっていく。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拠点が増えるほど、地域での出会いと仕事のきっかけが増えていく。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一人ひとりの、働き方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ほとんどの人は、これまで通り。一部の人が、横断する。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28800"/>
            <a:ext cx="10332720" cy="713232"/>
          </a:xfrm>
          <a:prstGeom prst="roundRect">
            <a:avLst>
              <a:gd name="adj" fmla="val 12821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働き方は、大きくは変わりません。</a:t>
            </a:r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6F0E6"/>
                </a:solidFill>
              </a:rPr>
              <a:t>多くの人は本業のまま。そのうえで、一部の人が事業をまたいで活躍します。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788920"/>
            <a:ext cx="5074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3645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926080"/>
            <a:ext cx="4663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36454F"/>
                </a:solidFill>
              </a:rPr>
              <a:t>油谷さん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8A8A8A"/>
                </a:solidFill>
              </a:rPr>
              <a:t>積水・定期巡回の補佐 ＋ 雑務オールマイティ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3584448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猪股さんの下で定期巡回を支えつつ、雑務もオールマイティに。さらにサウナ・飲食・穀物乾燥機の組立まで横断サポート。（JA新みやぎ18年・フォークリフト有）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2788920"/>
            <a:ext cx="507492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5B8C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2926080"/>
            <a:ext cx="4663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5B8C5A"/>
                </a:solidFill>
              </a:rPr>
              <a:t>小林さん（ウェルネス）</a:t>
            </a:r>
            <a:endParaRPr lang="en-US" sz="15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8A8A8A"/>
                </a:solidFill>
              </a:rPr>
              <a:t>健康経営コンサル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73368" y="3584448"/>
            <a:ext cx="46634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健康経営支援や福利厚生提案など、さまざまな提案をしながら、その流れでサウナ・ランドリーの営業も担う。コンサルが“入口”になる。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6454F"/>
                </a:solidFill>
              </a:rPr>
              <a:t>マルチスキルは、価値の掛け算。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A8A"/>
                </a:solidFill>
              </a:rPr>
              <a:t>複数の事業で力を発揮できる人が、これからの光和を支える。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513832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6454F"/>
                </a:solidFill>
              </a:rPr>
              <a:t>兼務は、リスク分散でもある。</a:t>
            </a:r>
            <a:endParaRPr lang="en-US" sz="1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8A8A8A"/>
                </a:solidFill>
              </a:rPr>
              <a:t>仕事が途切れにくく、挑戦と成長の機会も広がる。やってみたいことは、ぜひ声に。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ロードマップ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5つの事業がそろうまで、そして、その先へ。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29968"/>
            <a:ext cx="1033272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78024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これまで（〜2024）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1997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創業。積水ハウス不動産の原状回復・リノベを本業に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2023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ランドリー事業 開始（コインランドリー moco）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2024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サウナ事業に着手（KÖWA SAUNA 開発）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25896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4462272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いま（2025〜2026）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62272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2025.7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穀物乾燥機の組立を請負（朝日製作所）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62272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ランドリー周辺の新規業務が本格化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62272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2026.8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新体制スタート・ウェルネス事業 開始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573768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742E"/>
          </a:solidFill>
          <a:ln/>
        </p:spPr>
      </p:sp>
      <p:sp>
        <p:nvSpPr>
          <p:cNvPr id="18" name="Text 16"/>
          <p:cNvSpPr/>
          <p:nvPr/>
        </p:nvSpPr>
        <p:spPr>
          <a:xfrm>
            <a:off x="8010144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これから（2027〜）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10144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2027〜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サウナ体験型ショールームを展開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10144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約2年後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カフェ：POPUP → クラファン → 店舗出店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0144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目標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5事業で年商7億円へ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数字で見る目標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現在地は約4.65億円。目指すは、年商7億円。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D8DDE0"/>
                </a:solidFill>
              </a:rPr>
              <a:t>現在地　</a:t>
            </a:r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約4.65億円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DE0"/>
                </a:solidFill>
              </a:rPr>
              <a:t>第26期（R6.7〜R7.6）売上高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66360" y="17830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9742E"/>
                </a:solidFill>
              </a:rPr>
              <a:t>＋2.35億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C5F2D"/>
                </a:solidFill>
              </a:rPr>
              <a:t>›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0866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FE3CF"/>
                </a:solidFill>
              </a:rPr>
              <a:t>目標　</a:t>
            </a:r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7億円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FE3CF"/>
                </a:solidFill>
              </a:rPr>
              <a:t>5事業の合計で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6454F"/>
                </a:solidFill>
              </a:rPr>
              <a:t>目標 7億円の内訳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310128"/>
            <a:ext cx="4428309" cy="749808"/>
          </a:xfrm>
          <a:prstGeom prst="roundRect">
            <a:avLst>
              <a:gd name="adj" fmla="val 4878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42709" y="3310128"/>
            <a:ext cx="2952206" cy="749808"/>
          </a:xfrm>
          <a:prstGeom prst="roundRect">
            <a:avLst>
              <a:gd name="adj" fmla="val 4878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4914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771017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C7293"/>
                </a:solidFill>
              </a:rPr>
              <a:t>リフォーム本業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積水ハウス不動産 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78992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3億円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78992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会社の土台（実績あり）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38728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C974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03320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ランドリー事業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moco・穀物乾燥機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703320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2E"/>
                </a:solidFill>
              </a:rPr>
              <a:t>2億円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703320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現状 約1億 → 倍増へ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63056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代表直轄リフォーム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LIXIL等・広顕の現場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327648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5F2D"/>
                </a:solidFill>
              </a:rPr>
              <a:t>1億円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327648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社長の現場力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787384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8C3B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8C3B4A"/>
                </a:solidFill>
              </a:rPr>
              <a:t>新規3事業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サウナ・ウェルネス・カフェ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951976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C3B4A"/>
                </a:solidFill>
              </a:rPr>
              <a:t>1億円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8951976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現状ほぼ0 → 育てる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5961888"/>
            <a:ext cx="10332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6454F"/>
                </a:solidFill>
              </a:rPr>
              <a:t>本業（約4.3億の工事実績）を土台に、ランドリー（現状約1億）を倍増、新規事業1億を加えて7億へ。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12191695" cy="91440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私たちのビジョン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CFE3CF"/>
                </a:solidFill>
              </a:rPr>
              <a:t>「住まいの会社」から、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大和町発・“暮らしと健康”の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地域プラットフォームへ。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直す力で、人を、地域を、社会を、整えていく。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宮城の“ととのう暮らし”をつくる会社に。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みんなへ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C5F2D"/>
                </a:solidFill>
              </a:rPr>
              <a:t>変わるのは「数」じゃない。社会との“つながり”が広がること。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土台は、これまでと同じ。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技術と、誠実さと、人。約30年で積み上げたものは、これからも私たちの中心です。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広がるのは、社会と関わる“面”。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住まいから、健康・食・地域・産業へ。私たちが役に立てる場所が増えていきます。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新しい挑戦に、あなたの力を。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どの事業にも、一人ひとりの経験と工夫が必要です。やってみたいことは、ぜひ声に。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983480"/>
            <a:ext cx="1033272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一緒に、つくっていきましょう。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2026-06-25T05:53:20Z</dcterms:created>
  <dcterms:modified xsi:type="dcterms:W3CDTF">2026-06-25T05:53:20Z</dcterms:modified>
</cp:coreProperties>
</file>