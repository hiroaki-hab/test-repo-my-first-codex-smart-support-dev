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9FC5A0"/>
                </a:solidFill>
                <a:latin typeface="Yu Gothic"/>
              </a:rPr>
              <a:t>KOWA WELLNESS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Yu Gothic"/>
              </a:rPr>
              <a:t>ウェルネス事業部 事業計画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Yu Gothic"/>
              </a:rPr>
              <a:t>― 宮城で「睡眠から始める健康経営」。認定を"実感"に変える会社 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9E5"/>
                </a:solidFill>
                <a:latin typeface="Yu Gothic"/>
              </a:rPr>
              <a:t>有限会社 光和工業　／　事業責任者：小林 舞（元アクサ生命・健康経営エキスパートアドバイザー・2級FP技能士）</a:t>
            </a:r>
          </a:p>
          <a:p>
            <a:pPr algn="l"/>
            <a:r>
              <a:rPr sz="1400" b="0">
                <a:solidFill>
                  <a:srgbClr val="CCD9E5"/>
                </a:solidFill>
                <a:latin typeface="Yu Gothic"/>
              </a:rPr>
              <a:t>事業開始：2026年8月　／　本資料：市場データ・反対意見審査を経た実行計画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01  </a:t>
            </a:r>
            <a:r>
              <a:rPr sz="2200" b="1">
                <a:solidFill>
                  <a:srgbClr val="FFFFFF"/>
                </a:solidFill>
                <a:latin typeface="Yu Gothic"/>
              </a:rPr>
              <a:t>事業の要旨 ― 何屋か、なぜ光和か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Yu Gothic"/>
              </a:rPr>
              <a:t>“聞く健康経営” ではなく “やる健康経営”。</a:t>
            </a:r>
          </a:p>
          <a:p>
            <a:pPr algn="l"/>
            <a:r>
              <a:rPr sz="1500" b="0">
                <a:solidFill>
                  <a:srgbClr val="666666"/>
                </a:solidFill>
                <a:latin typeface="Yu Gothic"/>
              </a:rPr>
              <a:t>資料とセミナーで終わらせず、サウナと睡眠改善を体感させ、成果を数字で見せる。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356616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0" y="2286000"/>
            <a:ext cx="356616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2286000"/>
            <a:ext cx="356616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1089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Yu Gothic"/>
              </a:rPr>
              <a:t>① 実体験</a:t>
            </a:r>
          </a:p>
          <a:p>
            <a:pPr algn="l"/>
            <a:r>
              <a:rPr sz="600" b="0">
                <a:solidFill>
                  <a:srgbClr val="666666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Yu Gothic"/>
              </a:rPr>
              <a:t>自社サウナ（KOWA SAUNA）×ブレインスリープ正規代理店×ランドリー。</a:t>
            </a:r>
          </a:p>
          <a:p>
            <a:pPr algn="l"/>
            <a:r>
              <a:rPr sz="1300" b="1">
                <a:solidFill>
                  <a:srgbClr val="222222"/>
                </a:solidFill>
                <a:latin typeface="Yu Gothic"/>
              </a:rPr>
              <a:t>「実際に体が変わる」を見せられる、宮城で唯一の健康経営支援。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468880"/>
            <a:ext cx="31089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Yu Gothic"/>
              </a:rPr>
              <a:t>② 中立</a:t>
            </a:r>
          </a:p>
          <a:p>
            <a:pPr algn="l"/>
            <a:r>
              <a:rPr sz="600" b="0">
                <a:solidFill>
                  <a:srgbClr val="666666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Yu Gothic"/>
              </a:rPr>
              <a:t>責任者は元アクサ生命の健康経営支援実務者。</a:t>
            </a:r>
          </a:p>
          <a:p>
            <a:pPr algn="l"/>
            <a:r>
              <a:rPr sz="1300" b="1">
                <a:solidFill>
                  <a:srgbClr val="222222"/>
                </a:solidFill>
                <a:latin typeface="Yu Gothic"/>
              </a:rPr>
              <a:t>保険会社の“無料支援”の中身を知り尽くし、特定1社に縛られない立場で提案。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468880"/>
            <a:ext cx="31089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Yu Gothic"/>
              </a:rPr>
              <a:t>③ 本業シナジー</a:t>
            </a:r>
          </a:p>
          <a:p>
            <a:pPr algn="l"/>
            <a:r>
              <a:rPr sz="600" b="0">
                <a:solidFill>
                  <a:srgbClr val="666666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Yu Gothic"/>
              </a:rPr>
              <a:t>仮眠室・サウナの設置は光和工業が施工。</a:t>
            </a:r>
          </a:p>
          <a:p>
            <a:pPr algn="l"/>
            <a:r>
              <a:rPr sz="1300" b="1">
                <a:solidFill>
                  <a:srgbClr val="222222"/>
                </a:solidFill>
                <a:latin typeface="Yu Gothic"/>
              </a:rPr>
              <a:t>ウェルネス事業が本業（建設・リフォーム）に送客する構造。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立ち上げ期（1〜2年目）は本体一体の戦略投資。第1目標＝小林の給料の自給（2年目）、最終目標＝年収500万円（3年目・数年計画）。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02  </a:t>
            </a:r>
            <a:r>
              <a:rPr sz="2200" b="1">
                <a:solidFill>
                  <a:srgbClr val="FFFFFF"/>
                </a:solidFill>
                <a:latin typeface="Yu Gothic"/>
              </a:rPr>
              <a:t>市場 ― 母集団は大きい。ただし「金を払う層」は薄い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両面を直視した上で、狙いを絞る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694943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3820"/>
                <a:gridCol w="1667865"/>
                <a:gridCol w="305775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指標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数字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含意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宮城県 民営事業所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104,258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TAMの最大分母（令和3経済センサス）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うち従業員9人以下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約76%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予算・専任なしの超零細が主流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健康経営 認定中小（宮城）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90社→679社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2020→2026で7.5倍。急拡大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浸透率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0.65%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関心層はまだ極小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職場健康づくり宣言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3,161社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関心表明済みの見込みリスト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担当1名の初年度成約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5〜20社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母集団と成約数を混同しない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1417320"/>
            <a:ext cx="3886200" cy="3200400"/>
          </a:xfrm>
          <a:prstGeom prst="rect">
            <a:avLst/>
          </a:prstGeom>
          <a:solidFill>
            <a:srgbClr val="E8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600200"/>
            <a:ext cx="3474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Yu Gothic"/>
              </a:rPr>
              <a:t>狙いは「679社」</a:t>
            </a:r>
          </a:p>
          <a:p>
            <a:pPr algn="l"/>
            <a:r>
              <a:rPr sz="600" b="0">
                <a:solidFill>
                  <a:srgbClr val="666666"/>
                </a:solidFill>
                <a:latin typeface="Yu 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Yu Gothic"/>
              </a:rPr>
              <a:t>認定は取った。でも何も変わらない ――</a:t>
            </a:r>
          </a:p>
          <a:p>
            <a:pPr algn="l"/>
            <a:r>
              <a:rPr sz="1300" b="1">
                <a:solidFill>
                  <a:srgbClr val="222222"/>
                </a:solidFill>
                <a:latin typeface="Yu Gothic"/>
              </a:rPr>
              <a:t>この痛みは制度の構造上、全認定企業に発生。</a:t>
            </a:r>
          </a:p>
          <a:p>
            <a:pPr algn="l"/>
            <a:r>
              <a:rPr sz="600" b="0">
                <a:solidFill>
                  <a:srgbClr val="666666"/>
                </a:solidFill>
                <a:latin typeface="Yu Gothic"/>
              </a:rPr>
              <a:t/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国も健康経営度調査で「睡眠」を生産性施策の筆頭に（令和5年度〜）。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Yu Gothic"/>
              </a:rPr>
              <a:t>ターゲットの再定義：</a:t>
            </a:r>
            <a:r>
              <a:rPr sz="1400" b="0">
                <a:solidFill>
                  <a:srgbClr val="222222"/>
                </a:solidFill>
                <a:latin typeface="Yu Gothic"/>
              </a:rPr>
              <a:t>「これから始める企業」（啓蒙コスト大）ではなく、</a:t>
            </a:r>
            <a:r>
              <a:rPr sz="1400" b="1">
                <a:solidFill>
                  <a:srgbClr val="C62828"/>
                </a:solidFill>
                <a:latin typeface="Yu Gothic"/>
              </a:rPr>
              <a:t>「認定を取ったのに実感がない企業」＝お金を出す意思決定を既に一度した679社</a:t>
            </a:r>
            <a:r>
              <a:rPr sz="1400" b="0">
                <a:solidFill>
                  <a:srgbClr val="222222"/>
                </a:solidFill>
                <a:latin typeface="Yu Gothic"/>
              </a:rPr>
              <a:t>へ。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Yu Gothic"/>
              </a:rPr>
              <a:t>佐藤代表自身が当事者（「うちも取ったが実感がない」）＝実体験で語れる最強の営業トーク。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03  </a:t>
            </a:r>
            <a:r>
              <a:rPr sz="2200" b="1">
                <a:solidFill>
                  <a:srgbClr val="FFFFFF"/>
                </a:solidFill>
                <a:latin typeface="Yu Gothic"/>
              </a:rPr>
              <a:t>競合 ― 入口では戦わない。「実感」の有償領域で勝つ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59436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競合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価格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弱み＝当社の勝ち筋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保険会社の無料支援（アクサ等）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0円（商工会議所の99%と提携）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入口は無敵。ただし「実感（体験・効果測定）」は提供できない → 入口は譲り、その先を有償化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社労士・認定コンサル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30〜100万/件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書類が中心で「認定がゴール化」。体験・実装を持たない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大手（RIZAP・SOMPO等）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セミナー15万/回〜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都市部・非対面中心。地方中小の対面ニーズに来ない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スリープテック（ブレインスリープ等）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個別見積り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デジタルのみで施設がない → 当社は正規代理店＝競合でなく武器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嘱託産業医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月6〜10万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法令対応が主で経営伴走なし → 戦わず補完し合う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Yu Gothic"/>
              </a:rPr>
              <a:t>勝てる場所＝ 実体験（サウナ・睡眠測定） × 効果の数値化 × 地元対面 × 本業の施工力。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Yu Gothic"/>
              </a:rPr>
              <a:t>この4つの交差点には、無料勢も大手も社労士も存在しない。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04  </a:t>
            </a:r>
            <a:r>
              <a:rPr sz="2200" b="1">
                <a:solidFill>
                  <a:srgbClr val="FFFFFF"/>
                </a:solidFill>
                <a:latin typeface="Yu Gothic"/>
              </a:rPr>
              <a:t>SWOT分析（最終版）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0" cy="2331720"/>
          </a:xfrm>
          <a:prstGeom prst="rect">
            <a:avLst/>
          </a:prstGeom>
          <a:solidFill>
            <a:srgbClr val="E8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72200" y="1234440"/>
            <a:ext cx="5486400" cy="23317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486400" cy="2331720"/>
          </a:xfrm>
          <a:prstGeom prst="rect">
            <a:avLst/>
          </a:prstGeom>
          <a:solidFill>
            <a:srgbClr val="E8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3703320"/>
            <a:ext cx="5486400" cy="23317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Yu Gothic"/>
              </a:rPr>
              <a:t>強み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1206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元アクサの健康経営実務＝無料勢の手の内を熟知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サウナ×寝具×施工力＝「実感」を現物で売れる唯一の会社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報酬・営業・SNSの実行体系が設計済み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地域の信頼・既存取引網（最初の顧客の源泉）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30759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  <a:latin typeface="Yu Gothic"/>
              </a:rPr>
              <a:t>弱み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51206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実績ゼロ・無名。担当1名（伴走上限6〜10社）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保険募集人 再登録が必要（完了まで保険収益ゼロ）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サウナ・睡眠の支払意思は未実証（パイロットで検証）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属人性＝小林依存。施工は本業の繁忙と干渉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7647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Yu Gothic"/>
              </a:rPr>
              <a:t>機会 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51206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認定中小 7.5倍成長・県内97%が未着手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国が「睡眠」を生産性施策の筆頭に（令和5年度〜）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仮眠室に助成金（インターバルコース 3/4・上限120万）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「認定後の実感」市場は無料勢の空白地帯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77647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  <a:latin typeface="Yu Gothic"/>
              </a:rPr>
              <a:t>脅威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160520"/>
            <a:ext cx="51206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無料支援が入口を席巻（価格ゼロに張り付く）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中小の無料志向・予算不足。認定の形骸化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月10万超の価格帯は宮城では通りにくい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継続率90%割れ＝ストック収益の土台が崩壊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戦略＝ S×O：実感の有償化（体験×効果測定×施工）／ W×T：入口は無料勢に譲り、保険は“従”に徹して中立性を守る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05  </a:t>
            </a:r>
            <a:r>
              <a:rPr sz="2200" b="1">
                <a:solidFill>
                  <a:srgbClr val="FFFFFF"/>
                </a:solidFill>
                <a:latin typeface="Yu Gothic"/>
              </a:rPr>
              <a:t>商品マップ ― 顧客の入口から出口まで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月5万均一の顧問は廃止。財布（研修費・福利厚生費・採用広報費・個人）を分けて売る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480560"/>
                <a:gridCol w="274320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階段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商品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価格（税別）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取りにいく財布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入口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社長の睡眠測定 ／ 社員割引カード ／ 単発セミナー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1〜3万 ／ 年1.2万 ／ 5〜8万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個人・研修費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成果報酬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認定取得パック（取れなければ後金なし）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30万（15万+成功時15万）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採用広報費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継続（低）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ライト顧問（チャット無制限+四半期訪問+更新伴走）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月1.5万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顧問料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継続（中）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年間ウェルネスパック（セミナー6回+測定+サウナ）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48万/年 前受け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研修費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継続（高）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プレミアム顧問（12ヶ月カレンダー契約書明記）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月5万・30人以上限定・上限5〜6社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研修+福利厚生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体験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KOWA SAUNA法人契約（貴社デー/回数券）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月2.5〜4.5万 ／ 20回2.6万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福利厚生費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物販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ブレインスリープ優待販売（契約企業特典）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定価の80%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社員の個人財布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設備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仮眠室・サウナ施工（光和工業施工+助成金活用）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35〜300万（助成で実質圧縮）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設備投資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06  </a:t>
            </a:r>
            <a:r>
              <a:rPr sz="2200" b="1">
                <a:solidFill>
                  <a:srgbClr val="FFFFFF"/>
                </a:solidFill>
                <a:latin typeface="Yu Gothic"/>
              </a:rPr>
              <a:t>新商品① 仮眠室・サウナ施工 ― ウェルネスが本業に送客する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6858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3736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メニュー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売切り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月額(36ヶ月〜)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仮眠スペース・ライト（会議室転用+寝具2床）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35〜60万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月1.4〜2.4万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仮眠室スタンダード（個室化+測定つき）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90〜180万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月3.6〜7.2万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バレルサウナ設置（2〜4名用+外構）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180〜300万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月7.2〜12万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80960" y="1280160"/>
            <a:ext cx="3977639" cy="2468880"/>
          </a:xfrm>
          <a:prstGeom prst="rect">
            <a:avLst/>
          </a:prstGeom>
          <a:solidFill>
            <a:srgbClr val="E8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417320"/>
            <a:ext cx="3566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Yu Gothic"/>
              </a:rPr>
              <a:t>助成金で実質負担を圧縮</a:t>
            </a:r>
          </a:p>
          <a:p>
            <a:pPr algn="l"/>
            <a:r>
              <a:rPr sz="1150" b="0">
                <a:solidFill>
                  <a:srgbClr val="222222"/>
                </a:solidFill>
                <a:latin typeface="Yu Gothic"/>
              </a:rPr>
              <a:t>働き方改革推進支援助成金（勤務間インターバル）: 補助3/4・上限120万</a:t>
            </a:r>
          </a:p>
          <a:p>
            <a:pPr algn="l"/>
            <a:r>
              <a:rPr sz="1300" b="1">
                <a:solidFill>
                  <a:srgbClr val="C62828"/>
                </a:solidFill>
                <a:latin typeface="Yu Gothic"/>
              </a:rPr>
              <a:t>例: 仮眠室120万 → 実質約30万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Yu Gothic"/>
              </a:rPr>
              <a:t>※労働局の交付決定が前提。申請代行は提携社労士（独占業務）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Yu Gothic"/>
              </a:rPr>
              <a:t>構造：</a:t>
            </a:r>
            <a:r>
              <a:rPr sz="1400" b="0">
                <a:solidFill>
                  <a:srgbClr val="222222"/>
                </a:solidFill>
                <a:latin typeface="Yu Gothic"/>
              </a:rPr>
              <a:t>ウェルネス事業部（診断・測定・助成金情報・社労士紹介）→ 施工は建設部門＝売上・粗利は本業に計上。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Yu Gothic"/>
              </a:rPr>
              <a:t>施工後は「効果測定→顧問化」で事業部に還流。営業トークの軸＝ NASA研究「26分の仮眠で判断力+34%」。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Yu Gothic"/>
              </a:rPr>
              <a:t>初年度は送客3件（約300万）の保守計画。交付決定前の契約は助成対象外＝営業フローを固定。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07  </a:t>
            </a:r>
            <a:r>
              <a:rPr sz="2200" b="1">
                <a:solidFill>
                  <a:srgbClr val="FFFFFF"/>
                </a:solidFill>
                <a:latin typeface="Yu Gothic"/>
              </a:rPr>
              <a:t>新商品② KOWA SAUNA 法人契約 ― 空き稼働を利益に変える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38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306"/>
                <a:gridCol w="4071640"/>
                <a:gridCol w="2566903"/>
                <a:gridCol w="2478389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プラン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内容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価格（税別）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想定顧客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貴社サウナデー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毎月固定日の貸切2時間（最大8名）+タオル+月次レポート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月2.5万（月1回）/ 月4.5万（月2回）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認定済で「実感」が欲しい20〜50人企業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法人回数券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20回綴り・有効6ヶ月・社員誰でも利用可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2.6万（1回1,300円相当）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お試し・追加枠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社員割引カード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全社員+家族 常時20%引き+利用実績レポート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年1.2万/社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裾野の入口（宣言3,161社へ）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11064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Yu Gothic"/>
              </a:rPr>
              <a:t>差別化の肝＝「税務3点セット」を商品に同梱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Yu Gothic"/>
              </a:rPr>
              <a:t>法人名義契約書＋全従業員対象の利用規程ひな形＋利用記録（レポートが記録簿を兼ねる）→ 顧客側で福利厚生費として損金算入できる状態で納品。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Yu Gothic"/>
              </a:rPr>
              <a:t>認定の申請書に書ける文言テンプレートつき（「サウナ施設と法人契約を締結し、全従業員が利用可能な規程を整備…」）。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既存施設の空き稼働（平日昼）に載せるため限界利益率85〜95%。個人客とのカニバリは低稼働帯限定+月次監視で防ぐ。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08  </a:t>
            </a:r>
            <a:r>
              <a:rPr sz="2200" b="1">
                <a:solidFill>
                  <a:srgbClr val="FFFFFF"/>
                </a:solidFill>
                <a:latin typeface="Yu Gothic"/>
              </a:rPr>
              <a:t>新商品③ ブレインスリープ優待販売 ―「契約するとお得」の見える化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Yu Gothic"/>
              </a:rPr>
              <a:t>顧問・年間パック・法人契約の企業の社員は、ブレインスリープ製品を 定価の80% で購入できる</a:t>
            </a:r>
          </a:p>
          <a:p>
            <a:pPr algn="l"/>
            <a:r>
              <a:rPr sz="1300" b="0">
                <a:solidFill>
                  <a:srgbClr val="CCD9E5"/>
                </a:solidFill>
                <a:latin typeface="Yu Gothic"/>
              </a:rPr>
              <a:t>― 「うちと契約すると、社員全員がお得になる」。契約特典として営業トークに直結 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926080"/>
          <a:ext cx="704088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0292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設計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対象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契約企業の全社員（条件つき特典＝解約防止にも効く）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会社側の負担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ゼロ（社員の個人購入。給与天引き可の設計も提案）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税務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会社のお金が動かないため課税論点なし（安全）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光和の利益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卸率次第で1個あたり粗利を確保（下記条件）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自社実証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光和社員には優待販売（最大30%引き・非課税枠）で先行導入→事例化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63840" y="2926080"/>
            <a:ext cx="3794760" cy="265176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3063240"/>
            <a:ext cx="33832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Yu Gothic"/>
              </a:rPr>
              <a:t>成立条件（正直に）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Yu Gothic"/>
              </a:rPr>
              <a:t>定価80%販売で利益を載せるには、仕入（卸率）が60%程度以下であることが条件。</a:t>
            </a:r>
          </a:p>
          <a:p>
            <a:pPr algn="l"/>
            <a:r>
              <a:rPr sz="1200" b="1">
                <a:solidFill>
                  <a:srgbClr val="222222"/>
                </a:solidFill>
                <a:latin typeface="Yu Gothic"/>
              </a:rPr>
              <a:t>例: 定価3.3万の枕 → 販売2.64万。卸60%なら粗利6,600円/個。</a:t>
            </a:r>
          </a:p>
          <a:p>
            <a:pPr algn="l"/>
            <a:r>
              <a:rPr sz="1100" b="0">
                <a:solidFill>
                  <a:srgbClr val="666666"/>
                </a:solidFill>
                <a:latin typeface="Yu Gothic"/>
              </a:rPr>
              <a:t>→ 8月中にブレインスリープと卸条件を確定（アクション#7）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09  </a:t>
            </a:r>
            <a:r>
              <a:rPr sz="2200" b="1">
                <a:solidFill>
                  <a:srgbClr val="FFFFFF"/>
                </a:solidFill>
                <a:latin typeface="Yu Gothic"/>
              </a:rPr>
              <a:t>売り方A ― 認定済み企業（679社）：「取った認定を回収しましょう」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E7D32"/>
                </a:solidFill>
                <a:latin typeface="Yu Gothic"/>
              </a:rPr>
              <a:t>▪ </a:t>
            </a:r>
            <a:r>
              <a:rPr sz="1300" b="1">
                <a:solidFill>
                  <a:srgbClr val="222222"/>
                </a:solidFill>
                <a:latin typeface="Yu Gothic"/>
              </a:rPr>
              <a:t>彼らの痛み：「認定は取ったが何も変わらない」「毎年の申請が重い」「施策の弾切れ」「社員が乗ってこない」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E7D32"/>
                </a:solidFill>
                <a:latin typeface="Yu Gothic"/>
              </a:rPr>
              <a:t>▪ </a:t>
            </a:r>
            <a:r>
              <a:rPr sz="1300" b="0">
                <a:solidFill>
                  <a:srgbClr val="222222"/>
                </a:solidFill>
                <a:latin typeface="Yu Gothic"/>
              </a:rPr>
              <a:t>武器＝「認定調査票の項目 × セミナー6本の対応表」――「今年の申請書の実施実績、これで全部埋まります」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E7D32"/>
                </a:solidFill>
                <a:latin typeface="Yu Gothic"/>
              </a:rPr>
              <a:t>▪ </a:t>
            </a:r>
            <a:r>
              <a:rPr sz="1300" b="0">
                <a:solidFill>
                  <a:srgbClr val="222222"/>
                </a:solidFill>
                <a:latin typeface="Yu Gothic"/>
              </a:rPr>
              <a:t>売る順番：社員割引カード（年1.2万）→ サウナデー → 年間パック48万 → 施工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11064240" cy="2651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Yu Gothic"/>
              </a:rPr>
              <a:t>最初の30秒（実際のトーク）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Yu Gothic"/>
              </a:rPr>
              <a:t>「光和工業の小林と申します。御社、健康経営優良法人を取られてますよね。認定企業さんを回っていると皆さん同じことをおっしゃるんです――『取ったはいいけど、毎年の申請が大変な割に、社内は何も変わらない』と。実はうちも同じでした。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Yu Gothic"/>
              </a:rPr>
              <a:t>うちは申請書の教育項目を全部埋められる社員研修を年6回やって、ついでに来年の申請書も一緒に書く仕事をしています。今年の申請、どなたが書かれてます？」</a:t>
            </a:r>
          </a:p>
          <a:p>
            <a:pPr algn="l"/>
            <a:r>
              <a:rPr sz="1100" b="0">
                <a:solidFill>
                  <a:srgbClr val="666666"/>
                </a:solidFill>
                <a:latin typeface="Yu Gothic"/>
              </a:rPr>
              <a:t>※下調べ済みの敬意 → 「あるある」で共感 → 疲弊している担当者に話が渡る質問で締める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10  </a:t>
            </a:r>
            <a:r>
              <a:rPr sz="2200" b="1">
                <a:solidFill>
                  <a:srgbClr val="FFFFFF"/>
                </a:solidFill>
                <a:latin typeface="Yu Gothic"/>
              </a:rPr>
              <a:t>売り方B ― 未着手の97%：「健康経営」と言わずに売る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3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39"/>
                <a:gridCol w="6858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社長の口から出る言葉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売る入口商品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「求人出しても誰も来ない」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“求人票に書ける福利厚生”パック（サウナ・洗濯・睡眠）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「育てた若手が辞めた」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“社員が辞めない会社づくり”セミナー+定着面談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「最近眠れなくてさ」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社長の睡眠測定（1〜3万）＝最短で刺さる標準初回商品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「1件労災やったら元請けに切られる」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睡眠×安全衛生セミナー（安全大会の講師枠＝予算が既にある）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「息子に継がせたいが…」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相続・承継＋マネー相談（FP資格。社長個人の財布）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15968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Yu Gothic"/>
              </a:rPr>
              <a:t>最初の30秒（15人の建設会社の例）</a:t>
            </a:r>
          </a:p>
          <a:p>
            <a:pPr algn="l"/>
            <a:r>
              <a:rPr sz="1250" b="0">
                <a:solidFill>
                  <a:srgbClr val="222222"/>
                </a:solidFill>
                <a:latin typeface="Yu Gothic"/>
              </a:rPr>
              <a:t>「大和町の光和工業、小林です。社員さんが辞めない会社づくりのお手伝いをしています。売り込みの前に一つだけ――社長、最近ちゃんと眠れてますか？ 1週間着けて寝るだけで“睡眠の通信簿”が出る測定機があります。まず社長ご自身で試してみませんか。」</a:t>
            </a:r>
          </a:p>
          <a:p>
            <a:pPr algn="l"/>
            <a:r>
              <a:rPr sz="1150" b="1">
                <a:solidFill>
                  <a:srgbClr val="C62828"/>
                </a:solidFill>
                <a:latin typeface="Yu Gothic"/>
              </a:rPr>
              <a:t>使わない言葉：健康経営／ウェルネス／エンゲージメント。 使う言葉：「求人票に書ける福利厚生」「社長の睡眠の通信簿」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11  </a:t>
            </a:r>
            <a:r>
              <a:rPr sz="2200" b="1">
                <a:solidFill>
                  <a:srgbClr val="FFFFFF"/>
                </a:solidFill>
                <a:latin typeface="Yu Gothic"/>
              </a:rPr>
              <a:t>SNS・認知拡大 ― 1名で回す現実解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SNSは客を連れてくる装置ではなく、オフラインの接点を「信頼できる専門家」として裏付ける装置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92240"/>
                <a:gridCol w="23774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媒体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役割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頻度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LINE公式（最重要）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体験会予約・見込み客の保有・再接触のハブ。全SNSのゴールは友だち追加に統一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隔週配信+予約は即応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Facebook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地元経営者・50代意思決定層に最も届く。顔出し発信＝信頼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週2〜3本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Instagram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サウナ・測定の実体験を可視化（絵になる数少ない健康経営）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週2+リール週1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note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元アクサの中立性・事例解説。商談前の下調べで読まれる資産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月1〜2本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YouTubeショート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体験会の撮影素材を切り出すだけ（制作コスト増ゼロ）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月2本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Yu Gothic"/>
              </a:rPr>
              <a:t>運用の原則：体験会1回から10〜15本のコンテンツを切り出す。新規制作は実質週2〜3本＋Canvaテンプレ＋AI下書き。</a:t>
            </a:r>
          </a:p>
          <a:p>
            <a:pPr algn="l"/>
            <a:r>
              <a:rPr sz="1400" b="1">
                <a:solidFill>
                  <a:srgbClr val="1F3A5F"/>
                </a:solidFill>
                <a:latin typeface="Yu Gothic"/>
              </a:rPr>
              <a:t>KPIはフォロワー数ではなく「体験会申込 → 商談化 → 契約」。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権威資産：河北新報「健康みやぎサポーターズ」登録・商工会議所登壇・認定実績を、SNSとLPに転用して単価アップの裏付けに。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12  </a:t>
            </a:r>
            <a:r>
              <a:rPr sz="2200" b="1">
                <a:solidFill>
                  <a:srgbClr val="FFFFFF"/>
                </a:solidFill>
                <a:latin typeface="Yu Gothic"/>
              </a:rPr>
              <a:t>収支予想 ― 保守シナリオ（反対意見審査済み）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「初年度1,000万」は棄却済み。確率調整後の現実線で計画する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36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79"/>
                <a:gridCol w="3657599"/>
                <a:gridCol w="2926079"/>
                <a:gridCol w="2926079"/>
              </a:tblGrid>
              <a:tr h="566928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1年目（2026.8〜）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2年目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3年目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位置づけ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仕込み（未達を計画として受容）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自給ライン達成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500万原資が射程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主な中身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診断6〜8件+駆け込み認定2〜3件+単発セミナー+社長測定+新商品(カード10社/サウナデー3社)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認定8+ライト12+継続3+診断8+福利厚生4+物販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ストック積層（ライト18社+認定新規+更新定型化）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売上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350〜450万+施工送客300万(本業)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約820万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約900万+施工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貢献利益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270〜350万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Yu Gothic"/>
                        </a:rPr>
                        <a:t>約646万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650〜750万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判定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赤字（本体一体の戦略投資）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Yu Gothic"/>
                        </a:rPr>
                        <a:t>自給ライン465万を計画比72%でも達成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小林 年収500万の原資に到達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578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Yu Gothic"/>
              </a:rPr>
              <a:t>小林の給与：基本給 月27万フル保証＋貢献利益連動の歩合（保険は5%+キャップで中立性を守る設計）。</a:t>
            </a:r>
          </a:p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想定年収：Y1 約405万 → Y2 約430万 → Y3 約500万（基本給改定は「単月黒字2四半期連続」ゲート通過後のみ＝会社の固定リスクは年41万に限定）。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13  </a:t>
            </a:r>
            <a:r>
              <a:rPr sz="2200" b="1">
                <a:solidFill>
                  <a:srgbClr val="FFFFFF"/>
                </a:solidFill>
                <a:latin typeface="Yu Gothic"/>
              </a:rPr>
              <a:t>リスク管理 ― 撤退ライン（Kill Criteria）と月次KPI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賭け金を限定する。以下に該当したら縮小・撤退・抜本見直し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350" b="1">
                <a:solidFill>
                  <a:srgbClr val="C62828"/>
                </a:solidFill>
                <a:latin typeface="Yu Gothic"/>
              </a:rPr>
              <a:t>6ヶ月（2027/1）で有償契約ゼロ・累計売上100万円未満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350" b="1">
                <a:solidFill>
                  <a:srgbClr val="C62828"/>
                </a:solidFill>
                <a:latin typeface="Yu Gothic"/>
              </a:rPr>
              <a:t>初年度末に売上が下限150万円割れ、翌年パイプライン枯渇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350" b="1">
                <a:solidFill>
                  <a:srgbClr val="C62828"/>
                </a:solidFill>
                <a:latin typeface="Yu Gothic"/>
              </a:rPr>
              <a:t>サウナ・睡眠の継続課金（2回目以降）が初年度ゼロ＝単発の物珍しさで終わる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350" b="1">
                <a:solidFill>
                  <a:srgbClr val="C62828"/>
                </a:solidFill>
                <a:latin typeface="Yu Gothic"/>
              </a:rPr>
              <a:t>保険募集人の再登録が開始後1年以内に未完了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350" b="1">
                <a:solidFill>
                  <a:srgbClr val="C62828"/>
                </a:solidFill>
                <a:latin typeface="Yu Gothic"/>
              </a:rPr>
              <a:t>継続率90%割れ＝ストック収益の土台崩壊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350" b="1">
                <a:solidFill>
                  <a:srgbClr val="C62828"/>
                </a:solidFill>
                <a:latin typeface="Yu Gothic"/>
              </a:rPr>
              <a:t>小林が兼務過多で本体業務に支障、または離脱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月次KPI（四半期で撤退ラインと照合）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Yu Gothic"/>
              </a:rPr>
              <a:t>① 接触社数　② 体験・測定の実施数　③ 有償転換率　④ 継続契約ストック数　⑤ 累計売上　⑥ パイプライン残数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14  </a:t>
            </a:r>
            <a:r>
              <a:rPr sz="2200" b="1">
                <a:solidFill>
                  <a:srgbClr val="FFFFFF"/>
                </a:solidFill>
                <a:latin typeface="Yu Gothic"/>
              </a:rPr>
              <a:t>90日アクション ― まず自社でやって「実証済み」を作る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69264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時期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やること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7月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福利厚生規程改定（社員優待販売+サウナ利用の明文化）／保険募集人 再登録着手／提携社労士の確保／ブレインスリープ卸条件・KOWA SAUNA料金の確定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8月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事業開始。自社社員の睡眠測定（before値）→優待販売会。自社に仮眠スペースをモデル施工＝ショールーム化。労働局へ助成金の事前照会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9月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自社事例を1枚資料化。認定済み10社へ「社員割引カード+見学会」で初回接触。駆け込み認定支援2〜3件（10月締切）を最優先KPIに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10月〜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サウナデー3社・眠りプログラム1社・施工商談2件。仮置き数値（卸率・料金・助成金）を実績で更新し計画を改定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Yu Gothic"/>
              </a:rPr>
              <a:t>90日のゴール：</a:t>
            </a:r>
            <a:r>
              <a:rPr sz="1400" b="1">
                <a:solidFill>
                  <a:srgbClr val="222222"/>
                </a:solidFill>
                <a:latin typeface="Yu Gothic"/>
              </a:rPr>
              <a:t>自社事例1件（測定データ付き）／社労士提携+労働局回答／法人契約3社・施工商談2件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Yu Gothic"/>
              </a:rPr>
              <a:t>――「認定は取ったが実感がない」への回答を、まず光和工業自身が体現している状態を作る。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"/>
              </a:rPr>
              <a:t>まとめ ― この事業の勝ち筋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0332720" cy="3657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9FC5A0"/>
                </a:solidFill>
                <a:latin typeface="Yu Gothic"/>
              </a:rPr>
              <a:t>▪ </a:t>
            </a:r>
            <a:r>
              <a:rPr sz="1600" b="0">
                <a:solidFill>
                  <a:srgbClr val="FFFFFF"/>
                </a:solidFill>
                <a:latin typeface="Yu Gothic"/>
              </a:rPr>
              <a:t>狙いは「認定を取ったのに実感がない」679社。ゼロから啓蒙しない。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9FC5A0"/>
                </a:solidFill>
                <a:latin typeface="Yu Gothic"/>
              </a:rPr>
              <a:t>▪ </a:t>
            </a:r>
            <a:r>
              <a:rPr sz="1600" b="0">
                <a:solidFill>
                  <a:srgbClr val="FFFFFF"/>
                </a:solidFill>
                <a:latin typeface="Yu Gothic"/>
              </a:rPr>
              <a:t>売るのは書類ではなく「実感」＝サウナ体験 × 睡眠測定 × 効果の数値化 × 施工。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9FC5A0"/>
                </a:solidFill>
                <a:latin typeface="Yu Gothic"/>
              </a:rPr>
              <a:t>▪ </a:t>
            </a:r>
            <a:r>
              <a:rPr sz="1600" b="0">
                <a:solidFill>
                  <a:srgbClr val="FFFFFF"/>
                </a:solidFill>
                <a:latin typeface="Yu Gothic"/>
              </a:rPr>
              <a:t>財布を分ける：研修費・福利厚生費・採用広報費・社員の個人財布。月5万一本足は廃止。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9FC5A0"/>
                </a:solidFill>
                <a:latin typeface="Yu Gothic"/>
              </a:rPr>
              <a:t>▪ </a:t>
            </a:r>
            <a:r>
              <a:rPr sz="1600" b="0">
                <a:solidFill>
                  <a:srgbClr val="FFFFFF"/>
                </a:solidFill>
                <a:latin typeface="Yu Gothic"/>
              </a:rPr>
              <a:t>契約特典（ブレインスリープ80%・社員割引）で「うちと契約するとお得」を見える化。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9FC5A0"/>
                </a:solidFill>
                <a:latin typeface="Yu Gothic"/>
              </a:rPr>
              <a:t>▪ </a:t>
            </a:r>
            <a:r>
              <a:rPr sz="1600" b="0">
                <a:solidFill>
                  <a:srgbClr val="FFFFFF"/>
                </a:solidFill>
                <a:latin typeface="Yu Gothic"/>
              </a:rPr>
              <a:t>施工（仮眠室・サウナ+助成金）でウェルネスが本業に送客する、光和にしかない循環。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9FC5A0"/>
                </a:solidFill>
                <a:latin typeface="Yu Gothic"/>
              </a:rPr>
              <a:t>▪ </a:t>
            </a:r>
            <a:r>
              <a:rPr sz="1600" b="0">
                <a:solidFill>
                  <a:srgbClr val="FFFFFF"/>
                </a:solidFill>
                <a:latin typeface="Yu Gothic"/>
              </a:rPr>
              <a:t>まず自社で実証 → 事例化 → 紹介。数字は保守的に、撤退ラインを決めて開始する。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FC5A0"/>
                </a:solidFill>
                <a:latin typeface="Yu Gothic"/>
              </a:rPr>
              <a:t>第1目標：小林の給料の自給（2年目）　→　最終目標：年収500万円（3年目・数年計画）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