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394960"/>
            <a:ext cx="12191695" cy="54864"/>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332720" cy="548640"/>
          </a:xfrm>
          <a:prstGeom prst="rect">
            <a:avLst/>
          </a:prstGeom>
          <a:noFill/>
        </p:spPr>
        <p:txBody>
          <a:bodyPr wrap="square" anchor="t">
            <a:spAutoFit/>
          </a:bodyPr>
          <a:lstStyle/>
          <a:p>
            <a:pPr algn="l"/>
            <a:r>
              <a:rPr sz="1600" b="1">
                <a:solidFill>
                  <a:srgbClr val="9FC5A0"/>
                </a:solidFill>
                <a:latin typeface="Yu Gothic"/>
              </a:rPr>
              <a:t>KOWA WELLNESS DIVISION ― 社内検討資料</a:t>
            </a:r>
          </a:p>
        </p:txBody>
      </p:sp>
      <p:sp>
        <p:nvSpPr>
          <p:cNvPr id="5" name="TextBox 4"/>
          <p:cNvSpPr txBox="1"/>
          <p:nvPr/>
        </p:nvSpPr>
        <p:spPr>
          <a:xfrm>
            <a:off x="914400" y="1828800"/>
            <a:ext cx="10332720" cy="1645920"/>
          </a:xfrm>
          <a:prstGeom prst="rect">
            <a:avLst/>
          </a:prstGeom>
          <a:noFill/>
        </p:spPr>
        <p:txBody>
          <a:bodyPr wrap="square" anchor="t">
            <a:spAutoFit/>
          </a:bodyPr>
          <a:lstStyle/>
          <a:p>
            <a:pPr algn="l"/>
            <a:r>
              <a:rPr sz="4200" b="1">
                <a:solidFill>
                  <a:srgbClr val="FFFFFF"/>
                </a:solidFill>
                <a:latin typeface="Yu Gothic"/>
              </a:rPr>
              <a:t>ウェルネス事業 会社計画案</a:t>
            </a:r>
          </a:p>
          <a:p>
            <a:pPr algn="l"/>
            <a:r>
              <a:rPr sz="2000" b="0">
                <a:solidFill>
                  <a:srgbClr val="FFFFFF"/>
                </a:solidFill>
                <a:latin typeface="Yu Gothic"/>
              </a:rPr>
              <a:t>― 認定取得後の企業を狙う理由と、勝ち方 ―</a:t>
            </a:r>
          </a:p>
        </p:txBody>
      </p:sp>
      <p:sp>
        <p:nvSpPr>
          <p:cNvPr id="6" name="TextBox 5"/>
          <p:cNvSpPr txBox="1"/>
          <p:nvPr/>
        </p:nvSpPr>
        <p:spPr>
          <a:xfrm>
            <a:off x="914400" y="4114800"/>
            <a:ext cx="10332720" cy="1097280"/>
          </a:xfrm>
          <a:prstGeom prst="rect">
            <a:avLst/>
          </a:prstGeom>
          <a:noFill/>
        </p:spPr>
        <p:txBody>
          <a:bodyPr wrap="square" anchor="t">
            <a:spAutoFit/>
          </a:bodyPr>
          <a:lstStyle/>
          <a:p>
            <a:pPr algn="l"/>
            <a:r>
              <a:rPr sz="1400" b="0">
                <a:solidFill>
                  <a:srgbClr val="CCD9E5"/>
                </a:solidFill>
                <a:latin typeface="Yu Gothic"/>
              </a:rPr>
              <a:t>有限会社 光和工業　代表 佐藤　→　事業責任者 小林への提案・検討用</a:t>
            </a:r>
          </a:p>
          <a:p>
            <a:pPr algn="l"/>
            <a:r>
              <a:rPr sz="1400" b="0">
                <a:solidFill>
                  <a:srgbClr val="CCD9E5"/>
                </a:solidFill>
                <a:latin typeface="Yu Gothic"/>
              </a:rPr>
              <a:t>2026年7月　／　この案をたたき台に、二人で最終化する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01  </a:t>
            </a:r>
            <a:r>
              <a:rPr sz="2200" b="1">
                <a:solidFill>
                  <a:srgbClr val="FFFFFF"/>
                </a:solidFill>
                <a:latin typeface="Yu Gothic"/>
              </a:rPr>
              <a:t>結論 ― この事業で何をするか（一枚まとめ）</a:t>
            </a:r>
          </a:p>
        </p:txBody>
      </p:sp>
      <p:sp>
        <p:nvSpPr>
          <p:cNvPr id="4" name="Rectangle 3"/>
          <p:cNvSpPr/>
          <p:nvPr/>
        </p:nvSpPr>
        <p:spPr>
          <a:xfrm>
            <a:off x="548640" y="1188720"/>
            <a:ext cx="11064240" cy="1188720"/>
          </a:xfrm>
          <a:prstGeom prst="rect">
            <a:avLst/>
          </a:prstGeom>
          <a:solidFill>
            <a:srgbClr val="E8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25880"/>
            <a:ext cx="10515600" cy="960120"/>
          </a:xfrm>
          <a:prstGeom prst="rect">
            <a:avLst/>
          </a:prstGeom>
          <a:noFill/>
        </p:spPr>
        <p:txBody>
          <a:bodyPr wrap="square" anchor="t">
            <a:spAutoFit/>
          </a:bodyPr>
          <a:lstStyle/>
          <a:p>
            <a:pPr algn="l"/>
            <a:r>
              <a:rPr sz="1800" b="0">
                <a:solidFill>
                  <a:srgbClr val="222222"/>
                </a:solidFill>
                <a:latin typeface="Yu Gothic"/>
              </a:rPr>
              <a:t>「健康経営の認定は取ったが、実感がない」企業に、</a:t>
            </a:r>
          </a:p>
          <a:p>
            <a:pPr algn="l"/>
            <a:r>
              <a:rPr sz="1900" b="1">
                <a:solidFill>
                  <a:srgbClr val="1F3A5F"/>
                </a:solidFill>
                <a:latin typeface="Yu Gothic"/>
              </a:rPr>
              <a:t>サウナ×睡眠測定×施工で “実感” を売る。書類ではなく、体験と数字を売る事業。</a:t>
            </a:r>
          </a:p>
        </p:txBody>
      </p:sp>
      <p:graphicFrame>
        <p:nvGraphicFramePr>
          <p:cNvPr id="6" name="Table 5"/>
          <p:cNvGraphicFramePr>
            <a:graphicFrameLocks noGrp="1"/>
          </p:cNvGraphicFramePr>
          <p:nvPr/>
        </p:nvGraphicFramePr>
        <p:xfrm>
          <a:off x="548640" y="2651760"/>
          <a:ext cx="11064239" cy="2743200"/>
        </p:xfrm>
        <a:graphic>
          <a:graphicData uri="http://schemas.openxmlformats.org/drawingml/2006/table">
            <a:tbl>
              <a:tblPr firstRow="1" bandRow="1">
                <a:tableStyleId>{5C22544A-7EE6-4342-B048-85BDC9FD1C3A}</a:tableStyleId>
              </a:tblPr>
              <a:tblGrid>
                <a:gridCol w="1645919"/>
                <a:gridCol w="9418320"/>
              </a:tblGrid>
              <a:tr h="548640">
                <a:tc>
                  <a:txBody>
                    <a:bodyPr wrap="square"/>
                    <a:lstStyle/>
                    <a:p>
                      <a:r>
                        <a:rPr sz="1100" b="1">
                          <a:solidFill>
                            <a:srgbClr val="FFFFFF"/>
                          </a:solidFill>
                          <a:latin typeface="Yu Gothic"/>
                        </a:rPr>
                        <a:t>項目</a:t>
                      </a:r>
                    </a:p>
                  </a:txBody>
                  <a:tcPr marL="54864" marR="54864" marT="18288" marB="18288">
                    <a:solidFill>
                      <a:srgbClr val="1F3A5F"/>
                    </a:solidFill>
                  </a:tcPr>
                </a:tc>
                <a:tc>
                  <a:txBody>
                    <a:bodyPr wrap="square"/>
                    <a:lstStyle/>
                    <a:p>
                      <a:r>
                        <a:rPr sz="1100" b="1">
                          <a:solidFill>
                            <a:srgbClr val="FFFFFF"/>
                          </a:solidFill>
                          <a:latin typeface="Yu Gothic"/>
                        </a:rPr>
                        <a:t>会社案</a:t>
                      </a:r>
                    </a:p>
                  </a:txBody>
                  <a:tcPr marL="54864" marR="54864" marT="18288" marB="18288">
                    <a:solidFill>
                      <a:srgbClr val="1F3A5F"/>
                    </a:solidFill>
                  </a:tcPr>
                </a:tc>
              </a:tr>
              <a:tr h="548640">
                <a:tc>
                  <a:txBody>
                    <a:bodyPr wrap="square"/>
                    <a:lstStyle/>
                    <a:p>
                      <a:r>
                        <a:rPr sz="1100" b="0">
                          <a:solidFill>
                            <a:srgbClr val="222222"/>
                          </a:solidFill>
                          <a:latin typeface="Yu Gothic"/>
                        </a:rPr>
                        <a:t>狙う客</a:t>
                      </a:r>
                    </a:p>
                  </a:txBody>
                  <a:tcPr marL="54864" marR="54864" marT="18288" marB="18288">
                    <a:solidFill>
                      <a:srgbClr val="FFFFFF"/>
                    </a:solidFill>
                  </a:tcPr>
                </a:tc>
                <a:tc>
                  <a:txBody>
                    <a:bodyPr wrap="square"/>
                    <a:lstStyle/>
                    <a:p>
                      <a:r>
                        <a:rPr sz="1100" b="0">
                          <a:solidFill>
                            <a:srgbClr val="222222"/>
                          </a:solidFill>
                          <a:latin typeface="Yu Gothic"/>
                        </a:rPr>
                        <a:t>認定取得済みの中小企業（宮城679社）を主戦場に。未着手層は「健康経営」と言わない別トークで入口だけ</a:t>
                      </a:r>
                    </a:p>
                  </a:txBody>
                  <a:tcPr marL="54864" marR="54864" marT="18288" marB="18288">
                    <a:solidFill>
                      <a:srgbClr val="FFFFFF"/>
                    </a:solidFill>
                  </a:tcPr>
                </a:tc>
              </a:tr>
              <a:tr h="548640">
                <a:tc>
                  <a:txBody>
                    <a:bodyPr wrap="square"/>
                    <a:lstStyle/>
                    <a:p>
                      <a:r>
                        <a:rPr sz="1100" b="0">
                          <a:solidFill>
                            <a:srgbClr val="222222"/>
                          </a:solidFill>
                          <a:latin typeface="Yu Gothic"/>
                        </a:rPr>
                        <a:t>売る物</a:t>
                      </a:r>
                    </a:p>
                  </a:txBody>
                  <a:tcPr marL="54864" marR="54864" marT="18288" marB="18288">
                    <a:solidFill>
                      <a:srgbClr val="F2F5F8"/>
                    </a:solidFill>
                  </a:tcPr>
                </a:tc>
                <a:tc>
                  <a:txBody>
                    <a:bodyPr wrap="square"/>
                    <a:lstStyle/>
                    <a:p>
                      <a:r>
                        <a:rPr sz="1100" b="0">
                          <a:solidFill>
                            <a:srgbClr val="222222"/>
                          </a:solidFill>
                          <a:latin typeface="Yu Gothic"/>
                        </a:rPr>
                        <a:t>サウナ法人契約／睡眠測定／セミナー6本／認定更新の伴走／仮眠室・サウナ施工（本体工事）／ブレインスリープ優待</a:t>
                      </a:r>
                    </a:p>
                  </a:txBody>
                  <a:tcPr marL="54864" marR="54864" marT="18288" marB="18288">
                    <a:solidFill>
                      <a:srgbClr val="F2F5F8"/>
                    </a:solidFill>
                  </a:tcPr>
                </a:tc>
              </a:tr>
              <a:tr h="548640">
                <a:tc>
                  <a:txBody>
                    <a:bodyPr wrap="square"/>
                    <a:lstStyle/>
                    <a:p>
                      <a:r>
                        <a:rPr sz="1100" b="0">
                          <a:solidFill>
                            <a:srgbClr val="222222"/>
                          </a:solidFill>
                          <a:latin typeface="Yu Gothic"/>
                        </a:rPr>
                        <a:t>売り方</a:t>
                      </a:r>
                    </a:p>
                  </a:txBody>
                  <a:tcPr marL="54864" marR="54864" marT="18288" marB="18288">
                    <a:solidFill>
                      <a:srgbClr val="FFFFFF"/>
                    </a:solidFill>
                  </a:tcPr>
                </a:tc>
                <a:tc>
                  <a:txBody>
                    <a:bodyPr wrap="square"/>
                    <a:lstStyle/>
                    <a:p>
                      <a:r>
                        <a:rPr sz="1100" b="0">
                          <a:solidFill>
                            <a:srgbClr val="222222"/>
                          </a:solidFill>
                          <a:latin typeface="Yu Gothic"/>
                        </a:rPr>
                        <a:t>無料勢と価格で戦わない。まず自社で実証→事例を持って営業</a:t>
                      </a:r>
                    </a:p>
                  </a:txBody>
                  <a:tcPr marL="54864" marR="54864" marT="18288" marB="18288">
                    <a:solidFill>
                      <a:srgbClr val="FFFFFF"/>
                    </a:solidFill>
                  </a:tcPr>
                </a:tc>
              </a:tr>
              <a:tr h="548640">
                <a:tc>
                  <a:txBody>
                    <a:bodyPr wrap="square"/>
                    <a:lstStyle/>
                    <a:p>
                      <a:r>
                        <a:rPr sz="1100" b="0">
                          <a:solidFill>
                            <a:srgbClr val="222222"/>
                          </a:solidFill>
                          <a:latin typeface="Yu Gothic"/>
                        </a:rPr>
                        <a:t>数字</a:t>
                      </a:r>
                    </a:p>
                  </a:txBody>
                  <a:tcPr marL="54864" marR="54864" marT="18288" marB="18288">
                    <a:solidFill>
                      <a:srgbClr val="F2F5F8"/>
                    </a:solidFill>
                  </a:tcPr>
                </a:tc>
                <a:tc>
                  <a:txBody>
                    <a:bodyPr wrap="square"/>
                    <a:lstStyle/>
                    <a:p>
                      <a:r>
                        <a:rPr sz="1100" b="0">
                          <a:solidFill>
                            <a:srgbClr val="222222"/>
                          </a:solidFill>
                          <a:latin typeface="Yu Gothic"/>
                        </a:rPr>
                        <a:t>1年目=仕込み（事例と型）→2年目=小林の給料の自給→3年目=年収500万の原資</a:t>
                      </a:r>
                    </a:p>
                  </a:txBody>
                  <a:tcPr marL="54864" marR="54864" marT="18288" marB="18288">
                    <a:solidFill>
                      <a:srgbClr val="F2F5F8"/>
                    </a:solidFill>
                  </a:tcPr>
                </a:tc>
              </a:tr>
            </a:tbl>
          </a:graphicData>
        </a:graphic>
      </p:graphicFrame>
      <p:sp>
        <p:nvSpPr>
          <p:cNvPr id="7" name="TextBox 6"/>
          <p:cNvSpPr txBox="1"/>
          <p:nvPr/>
        </p:nvSpPr>
        <p:spPr>
          <a:xfrm>
            <a:off x="548640" y="5120640"/>
            <a:ext cx="11064240" cy="1097280"/>
          </a:xfrm>
          <a:prstGeom prst="rect">
            <a:avLst/>
          </a:prstGeom>
          <a:noFill/>
        </p:spPr>
        <p:txBody>
          <a:bodyPr wrap="square" anchor="t">
            <a:spAutoFit/>
          </a:bodyPr>
          <a:lstStyle/>
          <a:p>
            <a:pPr algn="l"/>
            <a:r>
              <a:rPr sz="1300" b="0">
                <a:solidFill>
                  <a:srgbClr val="666666"/>
                </a:solidFill>
                <a:latin typeface="Yu Gothic"/>
              </a:rPr>
              <a:t>この資料は会社側の案。異論・対案は歓迎。ただし「なぜ認定済み企業か」（次の3枚）だけは、データを見てから議論したい。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02  </a:t>
            </a:r>
            <a:r>
              <a:rPr sz="2200" b="1">
                <a:solidFill>
                  <a:srgbClr val="FFFFFF"/>
                </a:solidFill>
                <a:latin typeface="Yu Gothic"/>
              </a:rPr>
              <a:t>なぜ認定済み企業を狙うのか ①</a:t>
            </a:r>
          </a:p>
        </p:txBody>
      </p:sp>
      <p:sp>
        <p:nvSpPr>
          <p:cNvPr id="4" name="TextBox 3"/>
          <p:cNvSpPr txBox="1"/>
          <p:nvPr/>
        </p:nvSpPr>
        <p:spPr>
          <a:xfrm>
            <a:off x="502920" y="896112"/>
            <a:ext cx="11247120" cy="365760"/>
          </a:xfrm>
          <a:prstGeom prst="rect">
            <a:avLst/>
          </a:prstGeom>
          <a:noFill/>
        </p:spPr>
        <p:txBody>
          <a:bodyPr wrap="square" anchor="t">
            <a:spAutoFit/>
          </a:bodyPr>
          <a:lstStyle/>
          <a:p>
            <a:pPr algn="l"/>
            <a:r>
              <a:rPr sz="1200" b="0">
                <a:solidFill>
                  <a:srgbClr val="666666"/>
                </a:solidFill>
                <a:latin typeface="Yu Gothic"/>
              </a:rPr>
              <a:t>まず「未着手の97%に売る」がいかに難しいかを直視する</a:t>
            </a:r>
          </a:p>
        </p:txBody>
      </p:sp>
      <p:graphicFrame>
        <p:nvGraphicFramePr>
          <p:cNvPr id="5" name="Table 4"/>
          <p:cNvGraphicFramePr>
            <a:graphicFrameLocks noGrp="1"/>
          </p:cNvGraphicFramePr>
          <p:nvPr/>
        </p:nvGraphicFramePr>
        <p:xfrm>
          <a:off x="548640" y="1417320"/>
          <a:ext cx="11064240" cy="3017520"/>
        </p:xfrm>
        <a:graphic>
          <a:graphicData uri="http://schemas.openxmlformats.org/drawingml/2006/table">
            <a:tbl>
              <a:tblPr firstRow="1" bandRow="1">
                <a:tableStyleId>{5C22544A-7EE6-4342-B048-85BDC9FD1C3A}</a:tableStyleId>
              </a:tblPr>
              <a:tblGrid>
                <a:gridCol w="5120640"/>
                <a:gridCol w="5943600"/>
              </a:tblGrid>
              <a:tr h="603504">
                <a:tc>
                  <a:txBody>
                    <a:bodyPr wrap="square"/>
                    <a:lstStyle/>
                    <a:p>
                      <a:r>
                        <a:rPr sz="1100" b="1">
                          <a:solidFill>
                            <a:srgbClr val="FFFFFF"/>
                          </a:solidFill>
                          <a:latin typeface="Yu Gothic"/>
                        </a:rPr>
                        <a:t>未着手層（宮城 約10万事業所）の現実</a:t>
                      </a:r>
                    </a:p>
                  </a:txBody>
                  <a:tcPr marL="54864" marR="54864" marT="18288" marB="18288">
                    <a:solidFill>
                      <a:srgbClr val="1F3A5F"/>
                    </a:solidFill>
                  </a:tcPr>
                </a:tc>
                <a:tc>
                  <a:txBody>
                    <a:bodyPr wrap="square"/>
                    <a:lstStyle/>
                    <a:p>
                      <a:r>
                        <a:rPr sz="1100" b="1">
                          <a:solidFill>
                            <a:srgbClr val="FFFFFF"/>
                          </a:solidFill>
                          <a:latin typeface="Yu Gothic"/>
                        </a:rPr>
                        <a:t>データ・根拠</a:t>
                      </a:r>
                    </a:p>
                  </a:txBody>
                  <a:tcPr marL="54864" marR="54864" marT="18288" marB="18288">
                    <a:solidFill>
                      <a:srgbClr val="1F3A5F"/>
                    </a:solidFill>
                  </a:tcPr>
                </a:tc>
              </a:tr>
              <a:tr h="603504">
                <a:tc>
                  <a:txBody>
                    <a:bodyPr wrap="square"/>
                    <a:lstStyle/>
                    <a:p>
                      <a:r>
                        <a:rPr sz="1150" b="0">
                          <a:solidFill>
                            <a:srgbClr val="222222"/>
                          </a:solidFill>
                          <a:latin typeface="Yu Gothic"/>
                        </a:rPr>
                        <a:t>「健康経営」という言葉がそもそも通じない</a:t>
                      </a:r>
                    </a:p>
                  </a:txBody>
                  <a:tcPr marL="54864" marR="54864" marT="18288" marB="18288">
                    <a:solidFill>
                      <a:srgbClr val="FFFFFF"/>
                    </a:solidFill>
                  </a:tcPr>
                </a:tc>
                <a:tc>
                  <a:txBody>
                    <a:bodyPr wrap="square"/>
                    <a:lstStyle/>
                    <a:p>
                      <a:r>
                        <a:rPr sz="1150" b="0">
                          <a:solidFill>
                            <a:srgbClr val="222222"/>
                          </a:solidFill>
                          <a:latin typeface="Yu Gothic"/>
                        </a:rPr>
                        <a:t>浸透率0.65%。100社に営業して99社はゼロから説明が必要＝啓蒙コストが膨大</a:t>
                      </a:r>
                    </a:p>
                  </a:txBody>
                  <a:tcPr marL="54864" marR="54864" marT="18288" marB="18288">
                    <a:solidFill>
                      <a:srgbClr val="FFFFFF"/>
                    </a:solidFill>
                  </a:tcPr>
                </a:tc>
              </a:tr>
              <a:tr h="603504">
                <a:tc>
                  <a:txBody>
                    <a:bodyPr wrap="square"/>
                    <a:lstStyle/>
                    <a:p>
                      <a:r>
                        <a:rPr sz="1150" b="0">
                          <a:solidFill>
                            <a:srgbClr val="222222"/>
                          </a:solidFill>
                          <a:latin typeface="Yu Gothic"/>
                        </a:rPr>
                        <a:t>説明して興味を持たれても、無料の競合に流れる</a:t>
                      </a:r>
                    </a:p>
                  </a:txBody>
                  <a:tcPr marL="54864" marR="54864" marT="18288" marB="18288">
                    <a:solidFill>
                      <a:srgbClr val="F2F5F8"/>
                    </a:solidFill>
                  </a:tcPr>
                </a:tc>
                <a:tc>
                  <a:txBody>
                    <a:bodyPr wrap="square"/>
                    <a:lstStyle/>
                    <a:p>
                      <a:r>
                        <a:rPr sz="1150" b="0">
                          <a:solidFill>
                            <a:srgbClr val="222222"/>
                          </a:solidFill>
                          <a:latin typeface="Yu Gothic"/>
                        </a:rPr>
                        <a:t>アクサ生命等は全国の商工会議所の99%と提携し、無料で健康経営支援を提供（保険で回収するモデル）</a:t>
                      </a:r>
                    </a:p>
                  </a:txBody>
                  <a:tcPr marL="54864" marR="54864" marT="18288" marB="18288">
                    <a:solidFill>
                      <a:srgbClr val="F2F5F8"/>
                    </a:solidFill>
                  </a:tcPr>
                </a:tc>
              </a:tr>
              <a:tr h="603504">
                <a:tc>
                  <a:txBody>
                    <a:bodyPr wrap="square"/>
                    <a:lstStyle/>
                    <a:p>
                      <a:r>
                        <a:rPr sz="1150" b="0">
                          <a:solidFill>
                            <a:srgbClr val="222222"/>
                          </a:solidFill>
                          <a:latin typeface="Yu Gothic"/>
                        </a:rPr>
                        <a:t>そもそも払う財布がない</a:t>
                      </a:r>
                    </a:p>
                  </a:txBody>
                  <a:tcPr marL="54864" marR="54864" marT="18288" marB="18288">
                    <a:solidFill>
                      <a:srgbClr val="FFFFFF"/>
                    </a:solidFill>
                  </a:tcPr>
                </a:tc>
                <a:tc>
                  <a:txBody>
                    <a:bodyPr wrap="square"/>
                    <a:lstStyle/>
                    <a:p>
                      <a:r>
                        <a:rPr sz="1150" b="0">
                          <a:solidFill>
                            <a:srgbClr val="222222"/>
                          </a:solidFill>
                          <a:latin typeface="Yu Gothic"/>
                        </a:rPr>
                        <a:t>県内事業所の約76%は従業員9人以下。福利厚生の財布は月2万円前後で、専任担当もいない</a:t>
                      </a:r>
                    </a:p>
                  </a:txBody>
                  <a:tcPr marL="54864" marR="54864" marT="18288" marB="18288">
                    <a:solidFill>
                      <a:srgbClr val="FFFFFF"/>
                    </a:solidFill>
                  </a:tcPr>
                </a:tc>
              </a:tr>
              <a:tr h="603504">
                <a:tc>
                  <a:txBody>
                    <a:bodyPr wrap="square"/>
                    <a:lstStyle/>
                    <a:p>
                      <a:r>
                        <a:rPr sz="1150" b="0">
                          <a:solidFill>
                            <a:srgbClr val="222222"/>
                          </a:solidFill>
                          <a:latin typeface="Yu Gothic"/>
                        </a:rPr>
                        <a:t>意思決定に時間がかかる</a:t>
                      </a:r>
                    </a:p>
                  </a:txBody>
                  <a:tcPr marL="54864" marR="54864" marT="18288" marB="18288">
                    <a:solidFill>
                      <a:srgbClr val="F2F5F8"/>
                    </a:solidFill>
                  </a:tcPr>
                </a:tc>
                <a:tc>
                  <a:txBody>
                    <a:bodyPr wrap="square"/>
                    <a:lstStyle/>
                    <a:p>
                      <a:r>
                        <a:rPr sz="1150" b="0">
                          <a:solidFill>
                            <a:srgbClr val="222222"/>
                          </a:solidFill>
                          <a:latin typeface="Yu Gothic"/>
                        </a:rPr>
                        <a:t>「健康にお金を使う」という初めての決断を迫るため、商談が長く、成約率が読めない</a:t>
                      </a:r>
                    </a:p>
                  </a:txBody>
                  <a:tcPr marL="54864" marR="54864" marT="18288" marB="18288">
                    <a:solidFill>
                      <a:srgbClr val="F2F5F8"/>
                    </a:solidFill>
                  </a:tcPr>
                </a:tc>
              </a:tr>
            </a:tbl>
          </a:graphicData>
        </a:graphic>
      </p:graphicFrame>
      <p:sp>
        <p:nvSpPr>
          <p:cNvPr id="6" name="TextBox 5"/>
          <p:cNvSpPr txBox="1"/>
          <p:nvPr/>
        </p:nvSpPr>
        <p:spPr>
          <a:xfrm>
            <a:off x="548640" y="4480560"/>
            <a:ext cx="11064240" cy="1463040"/>
          </a:xfrm>
          <a:prstGeom prst="rect">
            <a:avLst/>
          </a:prstGeom>
          <a:noFill/>
        </p:spPr>
        <p:txBody>
          <a:bodyPr wrap="square" anchor="t">
            <a:spAutoFit/>
          </a:bodyPr>
          <a:lstStyle/>
          <a:p>
            <a:pPr algn="l"/>
            <a:r>
              <a:rPr sz="1600" b="1">
                <a:solidFill>
                  <a:srgbClr val="C62828"/>
                </a:solidFill>
                <a:latin typeface="Yu Gothic"/>
              </a:rPr>
              <a:t>つまり未着手層への営業は：説明コスト大 × 無料競合 × 財布なし × 決断が重い、の四重苦。</a:t>
            </a:r>
          </a:p>
          <a:p>
            <a:pPr algn="l"/>
            <a:r>
              <a:rPr sz="1400" b="0">
                <a:solidFill>
                  <a:srgbClr val="222222"/>
                </a:solidFill>
                <a:latin typeface="Yu Gothic"/>
              </a:rPr>
              <a:t>ここを主戦場にすると、1名体制では体力が尽きる。入口（社長の睡眠測定など）だけに絞る。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03  </a:t>
            </a:r>
            <a:r>
              <a:rPr sz="2200" b="1">
                <a:solidFill>
                  <a:srgbClr val="FFFFFF"/>
                </a:solidFill>
                <a:latin typeface="Yu Gothic"/>
              </a:rPr>
              <a:t>なぜ認定済み企業を狙うのか ②</a:t>
            </a:r>
          </a:p>
        </p:txBody>
      </p:sp>
      <p:sp>
        <p:nvSpPr>
          <p:cNvPr id="4" name="TextBox 3"/>
          <p:cNvSpPr txBox="1"/>
          <p:nvPr/>
        </p:nvSpPr>
        <p:spPr>
          <a:xfrm>
            <a:off x="502920" y="896112"/>
            <a:ext cx="11247120" cy="365760"/>
          </a:xfrm>
          <a:prstGeom prst="rect">
            <a:avLst/>
          </a:prstGeom>
          <a:noFill/>
        </p:spPr>
        <p:txBody>
          <a:bodyPr wrap="square" anchor="t">
            <a:spAutoFit/>
          </a:bodyPr>
          <a:lstStyle/>
          <a:p>
            <a:pPr algn="l"/>
            <a:r>
              <a:rPr sz="1200" b="0">
                <a:solidFill>
                  <a:srgbClr val="666666"/>
                </a:solidFill>
                <a:latin typeface="Yu Gothic"/>
              </a:rPr>
              <a:t>認定済み679社には「構造的に必ず発生する痛み」がある</a:t>
            </a:r>
          </a:p>
        </p:txBody>
      </p:sp>
      <p:sp>
        <p:nvSpPr>
          <p:cNvPr id="5" name="Rectangle 4"/>
          <p:cNvSpPr/>
          <p:nvPr/>
        </p:nvSpPr>
        <p:spPr>
          <a:xfrm>
            <a:off x="548640" y="1371600"/>
            <a:ext cx="5394960" cy="237744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08760"/>
            <a:ext cx="4937760" cy="2194560"/>
          </a:xfrm>
          <a:prstGeom prst="rect">
            <a:avLst/>
          </a:prstGeom>
          <a:noFill/>
        </p:spPr>
        <p:txBody>
          <a:bodyPr wrap="square" anchor="t">
            <a:spAutoFit/>
          </a:bodyPr>
          <a:lstStyle/>
          <a:p>
            <a:pPr algn="l"/>
            <a:r>
              <a:rPr sz="1600" b="1">
                <a:solidFill>
                  <a:srgbClr val="C62828"/>
                </a:solidFill>
                <a:latin typeface="Yu Gothic"/>
              </a:rPr>
              <a:t>痛みは制度が作っている</a:t>
            </a:r>
          </a:p>
          <a:p>
            <a:pPr algn="l"/>
            <a:r>
              <a:rPr sz="1250" b="0">
                <a:solidFill>
                  <a:srgbClr val="222222"/>
                </a:solidFill>
                <a:latin typeface="Yu Gothic"/>
              </a:rPr>
              <a:t>健康経営優良法人の認定は「申請書が書ければ取れる」。取得後の効果測定は要求されない。</a:t>
            </a:r>
          </a:p>
          <a:p>
            <a:pPr algn="l"/>
            <a:r>
              <a:rPr sz="1300" b="1">
                <a:solidFill>
                  <a:srgbClr val="222222"/>
                </a:solidFill>
                <a:latin typeface="Yu Gothic"/>
              </a:rPr>
              <a:t>→「取ったのに何も変わらない」は、全認定企業に構造的に発生する。</a:t>
            </a:r>
          </a:p>
          <a:p>
            <a:pPr algn="l"/>
            <a:r>
              <a:rPr sz="1250" b="1">
                <a:solidFill>
                  <a:srgbClr val="1F3A5F"/>
                </a:solidFill>
                <a:latin typeface="Yu Gothic"/>
              </a:rPr>
              <a:t>うちも認定を取って、同じことを感じた。この痛みは仮説ではなく実体験。</a:t>
            </a:r>
          </a:p>
        </p:txBody>
      </p:sp>
      <p:sp>
        <p:nvSpPr>
          <p:cNvPr id="7" name="Rectangle 6"/>
          <p:cNvSpPr/>
          <p:nvPr/>
        </p:nvSpPr>
        <p:spPr>
          <a:xfrm>
            <a:off x="6217920" y="1371600"/>
            <a:ext cx="5394960" cy="2377440"/>
          </a:xfrm>
          <a:prstGeom prst="rect">
            <a:avLst/>
          </a:prstGeom>
          <a:solidFill>
            <a:srgbClr val="E8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08760"/>
            <a:ext cx="4937760" cy="2194560"/>
          </a:xfrm>
          <a:prstGeom prst="rect">
            <a:avLst/>
          </a:prstGeom>
          <a:noFill/>
        </p:spPr>
        <p:txBody>
          <a:bodyPr wrap="square" anchor="t">
            <a:spAutoFit/>
          </a:bodyPr>
          <a:lstStyle/>
          <a:p>
            <a:pPr algn="l"/>
            <a:r>
              <a:rPr sz="1600" b="1">
                <a:solidFill>
                  <a:srgbClr val="2E7D32"/>
                </a:solidFill>
                <a:latin typeface="Yu Gothic"/>
              </a:rPr>
              <a:t>国も「実感」の方向へ誘導中</a:t>
            </a:r>
          </a:p>
          <a:p>
            <a:pPr algn="l"/>
            <a:r>
              <a:rPr sz="1250" b="0">
                <a:solidFill>
                  <a:srgbClr val="222222"/>
                </a:solidFill>
                <a:latin typeface="Yu Gothic"/>
              </a:rPr>
              <a:t>経産省の健康経営度調査は令和5年度から「睡眠」を生産性施策の筆頭に追加。厚労省も睡眠ガイド2023を公表。</a:t>
            </a:r>
          </a:p>
          <a:p>
            <a:pPr algn="l"/>
            <a:r>
              <a:rPr sz="1300" b="1">
                <a:solidFill>
                  <a:srgbClr val="222222"/>
                </a:solidFill>
                <a:latin typeface="Yu Gothic"/>
              </a:rPr>
              <a:t>→ 認定の「次」に求められるのは睡眠と生産性。うちの商材（サウナ・測定・寝具）と正面から一致する。</a:t>
            </a:r>
          </a:p>
        </p:txBody>
      </p:sp>
      <p:sp>
        <p:nvSpPr>
          <p:cNvPr id="9" name="TextBox 8"/>
          <p:cNvSpPr txBox="1"/>
          <p:nvPr/>
        </p:nvSpPr>
        <p:spPr>
          <a:xfrm>
            <a:off x="548640" y="4023360"/>
            <a:ext cx="11064240" cy="2011680"/>
          </a:xfrm>
          <a:prstGeom prst="rect">
            <a:avLst/>
          </a:prstGeom>
          <a:noFill/>
        </p:spPr>
        <p:txBody>
          <a:bodyPr wrap="square" anchor="t">
            <a:spAutoFit/>
          </a:bodyPr>
          <a:lstStyle/>
          <a:p>
            <a:pPr algn="l">
              <a:spcAft>
                <a:spcPts val="800"/>
              </a:spcAft>
            </a:pPr>
            <a:r>
              <a:rPr sz="1300" b="1">
                <a:solidFill>
                  <a:srgbClr val="2E7D32"/>
                </a:solidFill>
                <a:latin typeface="Yu Gothic"/>
              </a:rPr>
              <a:t>▪ </a:t>
            </a:r>
            <a:r>
              <a:rPr sz="1300" b="1">
                <a:solidFill>
                  <a:srgbClr val="222222"/>
                </a:solidFill>
                <a:latin typeface="Yu Gothic"/>
              </a:rPr>
              <a:t>毎年の申請更新が重い（8〜10月に担当者が調査票と格闘）＝ 年1回、確実にお金が動くタイミングがある</a:t>
            </a:r>
          </a:p>
          <a:p>
            <a:pPr algn="l">
              <a:spcAft>
                <a:spcPts val="800"/>
              </a:spcAft>
            </a:pPr>
            <a:r>
              <a:rPr sz="1300" b="1">
                <a:solidFill>
                  <a:srgbClr val="2E7D32"/>
                </a:solidFill>
                <a:latin typeface="Yu Gothic"/>
              </a:rPr>
              <a:t>▪ </a:t>
            </a:r>
            <a:r>
              <a:rPr sz="1300" b="0">
                <a:solidFill>
                  <a:srgbClr val="222222"/>
                </a:solidFill>
                <a:latin typeface="Yu Gothic"/>
              </a:rPr>
              <a:t>「今年は何をやったことにするか」施策の弾切れ ＝ セミナー6本＋サウナ＋測定がそのまま申請書の実績になる</a:t>
            </a:r>
          </a:p>
          <a:p>
            <a:pPr algn="l">
              <a:spcAft>
                <a:spcPts val="800"/>
              </a:spcAft>
            </a:pPr>
            <a:r>
              <a:rPr sz="1300" b="1">
                <a:solidFill>
                  <a:srgbClr val="2E7D32"/>
                </a:solidFill>
                <a:latin typeface="Yu Gothic"/>
              </a:rPr>
              <a:t>▪ </a:t>
            </a:r>
            <a:r>
              <a:rPr sz="1300" b="0">
                <a:solidFill>
                  <a:srgbClr val="222222"/>
                </a:solidFill>
                <a:latin typeface="Yu Gothic"/>
              </a:rPr>
              <a:t>社員がイベントに乗ってこない ＝ サウナと睡眠測定は数少ない「社員が喜ぶ健康施策」</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04  </a:t>
            </a:r>
            <a:r>
              <a:rPr sz="2200" b="1">
                <a:solidFill>
                  <a:srgbClr val="FFFFFF"/>
                </a:solidFill>
                <a:latin typeface="Yu Gothic"/>
              </a:rPr>
              <a:t>なぜ認定済み企業を狙うのか ③</a:t>
            </a:r>
          </a:p>
        </p:txBody>
      </p:sp>
      <p:sp>
        <p:nvSpPr>
          <p:cNvPr id="4" name="TextBox 3"/>
          <p:cNvSpPr txBox="1"/>
          <p:nvPr/>
        </p:nvSpPr>
        <p:spPr>
          <a:xfrm>
            <a:off x="502920" y="896112"/>
            <a:ext cx="11247120" cy="365760"/>
          </a:xfrm>
          <a:prstGeom prst="rect">
            <a:avLst/>
          </a:prstGeom>
          <a:noFill/>
        </p:spPr>
        <p:txBody>
          <a:bodyPr wrap="square" anchor="t">
            <a:spAutoFit/>
          </a:bodyPr>
          <a:lstStyle/>
          <a:p>
            <a:pPr algn="l"/>
            <a:r>
              <a:rPr sz="1200" b="0">
                <a:solidFill>
                  <a:srgbClr val="666666"/>
                </a:solidFill>
                <a:latin typeface="Yu Gothic"/>
              </a:rPr>
              <a:t>同じ1時間の営業なら、どちらに使うべきかの比較</a:t>
            </a:r>
          </a:p>
        </p:txBody>
      </p:sp>
      <p:graphicFrame>
        <p:nvGraphicFramePr>
          <p:cNvPr id="5" name="Table 4"/>
          <p:cNvGraphicFramePr>
            <a:graphicFrameLocks noGrp="1"/>
          </p:cNvGraphicFramePr>
          <p:nvPr/>
        </p:nvGraphicFramePr>
        <p:xfrm>
          <a:off x="548640" y="1417320"/>
          <a:ext cx="11064240" cy="3584448"/>
        </p:xfrm>
        <a:graphic>
          <a:graphicData uri="http://schemas.openxmlformats.org/drawingml/2006/table">
            <a:tbl>
              <a:tblPr firstRow="1" bandRow="1">
                <a:tableStyleId>{5C22544A-7EE6-4342-B048-85BDC9FD1C3A}</a:tableStyleId>
              </a:tblPr>
              <a:tblGrid>
                <a:gridCol w="1737360"/>
                <a:gridCol w="4389120"/>
                <a:gridCol w="4937760"/>
              </a:tblGrid>
              <a:tr h="512064">
                <a:tc>
                  <a:txBody>
                    <a:bodyPr wrap="square"/>
                    <a:lstStyle/>
                    <a:p/>
                  </a:txBody>
                  <a:tcPr marL="54864" marR="54864" marT="18288" marB="18288">
                    <a:solidFill>
                      <a:srgbClr val="1F3A5F"/>
                    </a:solidFill>
                  </a:tcPr>
                </a:tc>
                <a:tc>
                  <a:txBody>
                    <a:bodyPr wrap="square"/>
                    <a:lstStyle/>
                    <a:p>
                      <a:r>
                        <a:rPr sz="1100" b="1">
                          <a:solidFill>
                            <a:srgbClr val="FFFFFF"/>
                          </a:solidFill>
                          <a:latin typeface="Yu Gothic"/>
                        </a:rPr>
                        <a:t>未着手層（97%）</a:t>
                      </a:r>
                    </a:p>
                  </a:txBody>
                  <a:tcPr marL="54864" marR="54864" marT="18288" marB="18288">
                    <a:solidFill>
                      <a:srgbClr val="1F3A5F"/>
                    </a:solidFill>
                  </a:tcPr>
                </a:tc>
                <a:tc>
                  <a:txBody>
                    <a:bodyPr wrap="square"/>
                    <a:lstStyle/>
                    <a:p>
                      <a:r>
                        <a:rPr sz="1100" b="1">
                          <a:solidFill>
                            <a:srgbClr val="FFFFFF"/>
                          </a:solidFill>
                          <a:latin typeface="Yu Gothic"/>
                        </a:rPr>
                        <a:t>認定済み層（679社）</a:t>
                      </a:r>
                    </a:p>
                  </a:txBody>
                  <a:tcPr marL="54864" marR="54864" marT="18288" marB="18288">
                    <a:solidFill>
                      <a:srgbClr val="1F3A5F"/>
                    </a:solidFill>
                  </a:tcPr>
                </a:tc>
              </a:tr>
              <a:tr h="512064">
                <a:tc>
                  <a:txBody>
                    <a:bodyPr wrap="square"/>
                    <a:lstStyle/>
                    <a:p>
                      <a:r>
                        <a:rPr sz="1100" b="0">
                          <a:solidFill>
                            <a:srgbClr val="222222"/>
                          </a:solidFill>
                          <a:latin typeface="Yu Gothic"/>
                        </a:rPr>
                        <a:t>説明コスト</a:t>
                      </a:r>
                    </a:p>
                  </a:txBody>
                  <a:tcPr marL="54864" marR="54864" marT="18288" marB="18288">
                    <a:solidFill>
                      <a:srgbClr val="FFFFFF"/>
                    </a:solidFill>
                  </a:tcPr>
                </a:tc>
                <a:tc>
                  <a:txBody>
                    <a:bodyPr wrap="square"/>
                    <a:lstStyle/>
                    <a:p>
                      <a:r>
                        <a:rPr sz="1100" b="0">
                          <a:solidFill>
                            <a:srgbClr val="222222"/>
                          </a:solidFill>
                          <a:latin typeface="Yu Gothic"/>
                        </a:rPr>
                        <a:t>「健康経営とは」から。長い</a:t>
                      </a:r>
                    </a:p>
                  </a:txBody>
                  <a:tcPr marL="54864" marR="54864" marT="18288" marB="18288">
                    <a:solidFill>
                      <a:srgbClr val="FFFFFF"/>
                    </a:solidFill>
                  </a:tcPr>
                </a:tc>
                <a:tc>
                  <a:txBody>
                    <a:bodyPr wrap="square"/>
                    <a:lstStyle/>
                    <a:p>
                      <a:r>
                        <a:rPr sz="1100" b="0">
                          <a:solidFill>
                            <a:srgbClr val="222222"/>
                          </a:solidFill>
                          <a:latin typeface="Yu Gothic"/>
                        </a:rPr>
                        <a:t>不要。言葉が通じる</a:t>
                      </a:r>
                    </a:p>
                  </a:txBody>
                  <a:tcPr marL="54864" marR="54864" marT="18288" marB="18288">
                    <a:solidFill>
                      <a:srgbClr val="FFFFFF"/>
                    </a:solidFill>
                  </a:tcPr>
                </a:tc>
              </a:tr>
              <a:tr h="512064">
                <a:tc>
                  <a:txBody>
                    <a:bodyPr wrap="square"/>
                    <a:lstStyle/>
                    <a:p>
                      <a:r>
                        <a:rPr sz="1100" b="0">
                          <a:solidFill>
                            <a:srgbClr val="222222"/>
                          </a:solidFill>
                          <a:latin typeface="Yu Gothic"/>
                        </a:rPr>
                        <a:t>予算の意思決定</a:t>
                      </a:r>
                    </a:p>
                  </a:txBody>
                  <a:tcPr marL="54864" marR="54864" marT="18288" marB="18288">
                    <a:solidFill>
                      <a:srgbClr val="F2F5F8"/>
                    </a:solidFill>
                  </a:tcPr>
                </a:tc>
                <a:tc>
                  <a:txBody>
                    <a:bodyPr wrap="square"/>
                    <a:lstStyle/>
                    <a:p>
                      <a:r>
                        <a:rPr sz="1100" b="0">
                          <a:solidFill>
                            <a:srgbClr val="222222"/>
                          </a:solidFill>
                          <a:latin typeface="Yu Gothic"/>
                        </a:rPr>
                        <a:t>初めての決断＝重い</a:t>
                      </a:r>
                    </a:p>
                  </a:txBody>
                  <a:tcPr marL="54864" marR="54864" marT="18288" marB="18288">
                    <a:solidFill>
                      <a:srgbClr val="F2F5F8"/>
                    </a:solidFill>
                  </a:tcPr>
                </a:tc>
                <a:tc>
                  <a:txBody>
                    <a:bodyPr wrap="square"/>
                    <a:lstStyle/>
                    <a:p>
                      <a:r>
                        <a:rPr sz="1100" b="1">
                          <a:solidFill>
                            <a:srgbClr val="222222"/>
                          </a:solidFill>
                          <a:latin typeface="Yu Gothic"/>
                        </a:rPr>
                        <a:t>一度払った経験がある</a:t>
                      </a:r>
                      <a:r>
                        <a:rPr sz="1100" b="0">
                          <a:solidFill>
                            <a:srgbClr val="222222"/>
                          </a:solidFill>
                          <a:latin typeface="Yu Gothic"/>
                        </a:rPr>
                        <a:t>（認定取得に金と工数を投じ済み）</a:t>
                      </a:r>
                    </a:p>
                  </a:txBody>
                  <a:tcPr marL="54864" marR="54864" marT="18288" marB="18288">
                    <a:solidFill>
                      <a:srgbClr val="F2F5F8"/>
                    </a:solidFill>
                  </a:tcPr>
                </a:tc>
              </a:tr>
              <a:tr h="512064">
                <a:tc>
                  <a:txBody>
                    <a:bodyPr wrap="square"/>
                    <a:lstStyle/>
                    <a:p>
                      <a:r>
                        <a:rPr sz="1100" b="0">
                          <a:solidFill>
                            <a:srgbClr val="222222"/>
                          </a:solidFill>
                          <a:latin typeface="Yu Gothic"/>
                        </a:rPr>
                        <a:t>競合</a:t>
                      </a:r>
                    </a:p>
                  </a:txBody>
                  <a:tcPr marL="54864" marR="54864" marT="18288" marB="18288">
                    <a:solidFill>
                      <a:srgbClr val="FFFFFF"/>
                    </a:solidFill>
                  </a:tcPr>
                </a:tc>
                <a:tc>
                  <a:txBody>
                    <a:bodyPr wrap="square"/>
                    <a:lstStyle/>
                    <a:p>
                      <a:r>
                        <a:rPr sz="1100" b="0">
                          <a:solidFill>
                            <a:srgbClr val="222222"/>
                          </a:solidFill>
                          <a:latin typeface="Yu Gothic"/>
                        </a:rPr>
                        <a:t>無料勢が強い（入口を席巻）</a:t>
                      </a:r>
                    </a:p>
                  </a:txBody>
                  <a:tcPr marL="54864" marR="54864" marT="18288" marB="18288">
                    <a:solidFill>
                      <a:srgbClr val="FFFFFF"/>
                    </a:solidFill>
                  </a:tcPr>
                </a:tc>
                <a:tc>
                  <a:txBody>
                    <a:bodyPr wrap="square"/>
                    <a:lstStyle/>
                    <a:p>
                      <a:r>
                        <a:rPr sz="1100" b="1">
                          <a:solidFill>
                            <a:srgbClr val="222222"/>
                          </a:solidFill>
                          <a:latin typeface="Yu Gothic"/>
                        </a:rPr>
                        <a:t>無料勢の空白地帯</a:t>
                      </a:r>
                      <a:r>
                        <a:rPr sz="1100" b="0">
                          <a:solidFill>
                            <a:srgbClr val="222222"/>
                          </a:solidFill>
                          <a:latin typeface="Yu Gothic"/>
                        </a:rPr>
                        <a:t>（無料支援は取得まで。取得後の伴走は誰もやっていない）</a:t>
                      </a:r>
                    </a:p>
                  </a:txBody>
                  <a:tcPr marL="54864" marR="54864" marT="18288" marB="18288">
                    <a:solidFill>
                      <a:srgbClr val="FFFFFF"/>
                    </a:solidFill>
                  </a:tcPr>
                </a:tc>
              </a:tr>
              <a:tr h="512064">
                <a:tc>
                  <a:txBody>
                    <a:bodyPr wrap="square"/>
                    <a:lstStyle/>
                    <a:p>
                      <a:r>
                        <a:rPr sz="1100" b="0">
                          <a:solidFill>
                            <a:srgbClr val="222222"/>
                          </a:solidFill>
                          <a:latin typeface="Yu Gothic"/>
                        </a:rPr>
                        <a:t>痛みの明確さ</a:t>
                      </a:r>
                    </a:p>
                  </a:txBody>
                  <a:tcPr marL="54864" marR="54864" marT="18288" marB="18288">
                    <a:solidFill>
                      <a:srgbClr val="F2F5F8"/>
                    </a:solidFill>
                  </a:tcPr>
                </a:tc>
                <a:tc>
                  <a:txBody>
                    <a:bodyPr wrap="square"/>
                    <a:lstStyle/>
                    <a:p>
                      <a:r>
                        <a:rPr sz="1100" b="0">
                          <a:solidFill>
                            <a:srgbClr val="222222"/>
                          </a:solidFill>
                          <a:latin typeface="Yu Gothic"/>
                        </a:rPr>
                        <a:t>漠然（人手不足・離職）</a:t>
                      </a:r>
                    </a:p>
                  </a:txBody>
                  <a:tcPr marL="54864" marR="54864" marT="18288" marB="18288">
                    <a:solidFill>
                      <a:srgbClr val="F2F5F8"/>
                    </a:solidFill>
                  </a:tcPr>
                </a:tc>
                <a:tc>
                  <a:txBody>
                    <a:bodyPr wrap="square"/>
                    <a:lstStyle/>
                    <a:p>
                      <a:r>
                        <a:rPr sz="1100" b="0">
                          <a:solidFill>
                            <a:srgbClr val="222222"/>
                          </a:solidFill>
                          <a:latin typeface="Yu Gothic"/>
                        </a:rPr>
                        <a:t>明確（実感がない・更新が重い・弾切れ）</a:t>
                      </a:r>
                    </a:p>
                  </a:txBody>
                  <a:tcPr marL="54864" marR="54864" marT="18288" marB="18288">
                    <a:solidFill>
                      <a:srgbClr val="F2F5F8"/>
                    </a:solidFill>
                  </a:tcPr>
                </a:tc>
              </a:tr>
              <a:tr h="512064">
                <a:tc>
                  <a:txBody>
                    <a:bodyPr wrap="square"/>
                    <a:lstStyle/>
                    <a:p>
                      <a:r>
                        <a:rPr sz="1100" b="0">
                          <a:solidFill>
                            <a:srgbClr val="222222"/>
                          </a:solidFill>
                          <a:latin typeface="Yu Gothic"/>
                        </a:rPr>
                        <a:t>リスト</a:t>
                      </a:r>
                    </a:p>
                  </a:txBody>
                  <a:tcPr marL="54864" marR="54864" marT="18288" marB="18288">
                    <a:solidFill>
                      <a:srgbClr val="FFFFFF"/>
                    </a:solidFill>
                  </a:tcPr>
                </a:tc>
                <a:tc>
                  <a:txBody>
                    <a:bodyPr wrap="square"/>
                    <a:lstStyle/>
                    <a:p>
                      <a:r>
                        <a:rPr sz="1100" b="0">
                          <a:solidFill>
                            <a:srgbClr val="222222"/>
                          </a:solidFill>
                          <a:latin typeface="Yu Gothic"/>
                        </a:rPr>
                        <a:t>特定困難</a:t>
                      </a:r>
                    </a:p>
                  </a:txBody>
                  <a:tcPr marL="54864" marR="54864" marT="18288" marB="18288">
                    <a:solidFill>
                      <a:srgbClr val="FFFFFF"/>
                    </a:solidFill>
                  </a:tcPr>
                </a:tc>
                <a:tc>
                  <a:txBody>
                    <a:bodyPr wrap="square"/>
                    <a:lstStyle/>
                    <a:p>
                      <a:r>
                        <a:rPr sz="1100" b="1">
                          <a:solidFill>
                            <a:srgbClr val="222222"/>
                          </a:solidFill>
                          <a:latin typeface="Yu Gothic"/>
                        </a:rPr>
                        <a:t>公表されている</a:t>
                      </a:r>
                      <a:r>
                        <a:rPr sz="1100" b="0">
                          <a:solidFill>
                            <a:srgbClr val="222222"/>
                          </a:solidFill>
                          <a:latin typeface="Yu Gothic"/>
                        </a:rPr>
                        <a:t>（認定企業は名前が公開＝名指しで営業できる）</a:t>
                      </a:r>
                    </a:p>
                  </a:txBody>
                  <a:tcPr marL="54864" marR="54864" marT="18288" marB="18288">
                    <a:solidFill>
                      <a:srgbClr val="FFFFFF"/>
                    </a:solidFill>
                  </a:tcPr>
                </a:tc>
              </a:tr>
              <a:tr h="512064">
                <a:tc>
                  <a:txBody>
                    <a:bodyPr wrap="square"/>
                    <a:lstStyle/>
                    <a:p>
                      <a:r>
                        <a:rPr sz="1100" b="0">
                          <a:solidFill>
                            <a:srgbClr val="222222"/>
                          </a:solidFill>
                          <a:latin typeface="Yu Gothic"/>
                        </a:rPr>
                        <a:t>単価</a:t>
                      </a:r>
                    </a:p>
                  </a:txBody>
                  <a:tcPr marL="54864" marR="54864" marT="18288" marB="18288">
                    <a:solidFill>
                      <a:srgbClr val="F2F5F8"/>
                    </a:solidFill>
                  </a:tcPr>
                </a:tc>
                <a:tc>
                  <a:txBody>
                    <a:bodyPr wrap="square"/>
                    <a:lstStyle/>
                    <a:p>
                      <a:r>
                        <a:rPr sz="1100" b="0">
                          <a:solidFill>
                            <a:srgbClr val="222222"/>
                          </a:solidFill>
                          <a:latin typeface="Yu Gothic"/>
                        </a:rPr>
                        <a:t>低い（財布がない）</a:t>
                      </a:r>
                    </a:p>
                  </a:txBody>
                  <a:tcPr marL="54864" marR="54864" marT="18288" marB="18288">
                    <a:solidFill>
                      <a:srgbClr val="F2F5F8"/>
                    </a:solidFill>
                  </a:tcPr>
                </a:tc>
                <a:tc>
                  <a:txBody>
                    <a:bodyPr wrap="square"/>
                    <a:lstStyle/>
                    <a:p>
                      <a:r>
                        <a:rPr sz="1100" b="0">
                          <a:solidFill>
                            <a:srgbClr val="222222"/>
                          </a:solidFill>
                          <a:latin typeface="Yu Gothic"/>
                        </a:rPr>
                        <a:t>中〜高（研修費・福利厚生費の財布が既にある）</a:t>
                      </a:r>
                    </a:p>
                  </a:txBody>
                  <a:tcPr marL="54864" marR="54864" marT="18288" marB="18288">
                    <a:solidFill>
                      <a:srgbClr val="F2F5F8"/>
                    </a:solidFill>
                  </a:tcPr>
                </a:tc>
              </a:tr>
            </a:tbl>
          </a:graphicData>
        </a:graphic>
      </p:graphicFrame>
      <p:sp>
        <p:nvSpPr>
          <p:cNvPr id="6" name="TextBox 5"/>
          <p:cNvSpPr txBox="1"/>
          <p:nvPr/>
        </p:nvSpPr>
        <p:spPr>
          <a:xfrm>
            <a:off x="548640" y="5029200"/>
            <a:ext cx="11064240" cy="1280160"/>
          </a:xfrm>
          <a:prstGeom prst="rect">
            <a:avLst/>
          </a:prstGeom>
          <a:noFill/>
        </p:spPr>
        <p:txBody>
          <a:bodyPr wrap="square" anchor="t">
            <a:spAutoFit/>
          </a:bodyPr>
          <a:lstStyle/>
          <a:p>
            <a:pPr algn="l"/>
            <a:r>
              <a:rPr sz="1400" b="0">
                <a:solidFill>
                  <a:srgbClr val="222222"/>
                </a:solidFill>
                <a:latin typeface="Yu Gothic"/>
              </a:rPr>
              <a:t>679社は「少ない」のではない。1名で伴走できるのは年5〜6社、初年度の成約目標は10〜20件。</a:t>
            </a:r>
          </a:p>
          <a:p>
            <a:pPr algn="l"/>
            <a:r>
              <a:rPr sz="1600" b="1">
                <a:solidFill>
                  <a:srgbClr val="1F3A5F"/>
                </a:solidFill>
                <a:latin typeface="Yu Gothic"/>
              </a:rPr>
              <a:t>必要数の30〜60倍の母集団が、名前つきで公開されている。これを狙わない理由がない。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05  </a:t>
            </a:r>
            <a:r>
              <a:rPr sz="2200" b="1">
                <a:solidFill>
                  <a:srgbClr val="FFFFFF"/>
                </a:solidFill>
                <a:latin typeface="Yu Gothic"/>
              </a:rPr>
              <a:t>会社が考えるSWOT</a:t>
            </a:r>
          </a:p>
        </p:txBody>
      </p:sp>
      <p:sp>
        <p:nvSpPr>
          <p:cNvPr id="4" name="TextBox 3"/>
          <p:cNvSpPr txBox="1"/>
          <p:nvPr/>
        </p:nvSpPr>
        <p:spPr>
          <a:xfrm>
            <a:off x="502920" y="896112"/>
            <a:ext cx="11247120" cy="365760"/>
          </a:xfrm>
          <a:prstGeom prst="rect">
            <a:avLst/>
          </a:prstGeom>
          <a:noFill/>
        </p:spPr>
        <p:txBody>
          <a:bodyPr wrap="square" anchor="t">
            <a:spAutoFit/>
          </a:bodyPr>
          <a:lstStyle/>
          <a:p>
            <a:pPr algn="l"/>
            <a:r>
              <a:rPr sz="1200" b="0">
                <a:solidFill>
                  <a:srgbClr val="666666"/>
                </a:solidFill>
                <a:latin typeface="Yu Gothic"/>
              </a:rPr>
              <a:t>このSWOTに小林さんの視点を足して完成させたい</a:t>
            </a:r>
          </a:p>
        </p:txBody>
      </p:sp>
      <p:sp>
        <p:nvSpPr>
          <p:cNvPr id="5" name="Rectangle 4"/>
          <p:cNvSpPr/>
          <p:nvPr/>
        </p:nvSpPr>
        <p:spPr>
          <a:xfrm>
            <a:off x="548640" y="1234440"/>
            <a:ext cx="5486400" cy="2331720"/>
          </a:xfrm>
          <a:prstGeom prst="rect">
            <a:avLst/>
          </a:prstGeom>
          <a:solidFill>
            <a:srgbClr val="E8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72200" y="1234440"/>
            <a:ext cx="5486400" cy="233172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3703320"/>
            <a:ext cx="5486400" cy="2331720"/>
          </a:xfrm>
          <a:prstGeom prst="rect">
            <a:avLst/>
          </a:prstGeom>
          <a:solidFill>
            <a:srgbClr val="E8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72200" y="3703320"/>
            <a:ext cx="5486400" cy="233172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07592"/>
            <a:ext cx="5120640" cy="365760"/>
          </a:xfrm>
          <a:prstGeom prst="rect">
            <a:avLst/>
          </a:prstGeom>
          <a:noFill/>
        </p:spPr>
        <p:txBody>
          <a:bodyPr wrap="square" anchor="t">
            <a:spAutoFit/>
          </a:bodyPr>
          <a:lstStyle/>
          <a:p>
            <a:pPr algn="l"/>
            <a:r>
              <a:rPr sz="1500" b="1">
                <a:solidFill>
                  <a:srgbClr val="2E7D32"/>
                </a:solidFill>
                <a:latin typeface="Yu Gothic"/>
              </a:rPr>
              <a:t>強み S</a:t>
            </a:r>
          </a:p>
        </p:txBody>
      </p:sp>
      <p:sp>
        <p:nvSpPr>
          <p:cNvPr id="10" name="TextBox 9"/>
          <p:cNvSpPr txBox="1"/>
          <p:nvPr/>
        </p:nvSpPr>
        <p:spPr>
          <a:xfrm>
            <a:off x="731520" y="1691640"/>
            <a:ext cx="5120640" cy="1783080"/>
          </a:xfrm>
          <a:prstGeom prst="rect">
            <a:avLst/>
          </a:prstGeom>
          <a:noFill/>
        </p:spPr>
        <p:txBody>
          <a:bodyPr wrap="square" anchor="t">
            <a:spAutoFit/>
          </a:bodyPr>
          <a:lstStyle/>
          <a:p>
            <a:pPr algn="l">
              <a:spcAft>
                <a:spcPts val="200"/>
              </a:spcAft>
            </a:pPr>
            <a:r>
              <a:rPr sz="1050" b="1">
                <a:solidFill>
                  <a:srgbClr val="2E7D32"/>
                </a:solidFill>
                <a:latin typeface="Yu Gothic"/>
              </a:rPr>
              <a:t>▪ </a:t>
            </a:r>
            <a:r>
              <a:rPr sz="1050" b="0">
                <a:solidFill>
                  <a:srgbClr val="222222"/>
                </a:solidFill>
                <a:latin typeface="Yu Gothic"/>
              </a:rPr>
              <a:t>小林の元アクサ経験＝無料勢のやり方を内側から知っている</a:t>
            </a:r>
          </a:p>
          <a:p>
            <a:pPr algn="l">
              <a:spcAft>
                <a:spcPts val="200"/>
              </a:spcAft>
            </a:pPr>
            <a:r>
              <a:rPr sz="1050" b="1">
                <a:solidFill>
                  <a:srgbClr val="2E7D32"/>
                </a:solidFill>
                <a:latin typeface="Yu Gothic"/>
              </a:rPr>
              <a:t>▪ </a:t>
            </a:r>
            <a:r>
              <a:rPr sz="1050" b="0">
                <a:solidFill>
                  <a:srgbClr val="222222"/>
                </a:solidFill>
                <a:latin typeface="Yu Gothic"/>
              </a:rPr>
              <a:t>サウナ・ランドリー・施工部隊・寝具代理店＝「実感」を現物で売れる</a:t>
            </a:r>
          </a:p>
          <a:p>
            <a:pPr algn="l">
              <a:spcAft>
                <a:spcPts val="200"/>
              </a:spcAft>
            </a:pPr>
            <a:r>
              <a:rPr sz="1050" b="1">
                <a:solidFill>
                  <a:srgbClr val="2E7D32"/>
                </a:solidFill>
                <a:latin typeface="Yu Gothic"/>
              </a:rPr>
              <a:t>▪ </a:t>
            </a:r>
            <a:r>
              <a:rPr sz="1050" b="0">
                <a:solidFill>
                  <a:srgbClr val="222222"/>
                </a:solidFill>
                <a:latin typeface="Yu Gothic"/>
              </a:rPr>
              <a:t>自社が認定企業＝顧客と同じ痛みを体験済み</a:t>
            </a:r>
          </a:p>
          <a:p>
            <a:pPr algn="l">
              <a:spcAft>
                <a:spcPts val="200"/>
              </a:spcAft>
            </a:pPr>
            <a:r>
              <a:rPr sz="1050" b="1">
                <a:solidFill>
                  <a:srgbClr val="2E7D32"/>
                </a:solidFill>
                <a:latin typeface="Yu Gothic"/>
              </a:rPr>
              <a:t>▪ </a:t>
            </a:r>
            <a:r>
              <a:rPr sz="1050" b="0">
                <a:solidFill>
                  <a:srgbClr val="222222"/>
                </a:solidFill>
                <a:latin typeface="Yu Gothic"/>
              </a:rPr>
              <a:t>地域の信頼と既存取引網（最初の10社の源泉）</a:t>
            </a:r>
          </a:p>
        </p:txBody>
      </p:sp>
      <p:sp>
        <p:nvSpPr>
          <p:cNvPr id="11" name="TextBox 10"/>
          <p:cNvSpPr txBox="1"/>
          <p:nvPr/>
        </p:nvSpPr>
        <p:spPr>
          <a:xfrm>
            <a:off x="6355080" y="1307592"/>
            <a:ext cx="5120640" cy="365760"/>
          </a:xfrm>
          <a:prstGeom prst="rect">
            <a:avLst/>
          </a:prstGeom>
          <a:noFill/>
        </p:spPr>
        <p:txBody>
          <a:bodyPr wrap="square" anchor="t">
            <a:spAutoFit/>
          </a:bodyPr>
          <a:lstStyle/>
          <a:p>
            <a:pPr algn="l"/>
            <a:r>
              <a:rPr sz="1500" b="1">
                <a:solidFill>
                  <a:srgbClr val="C62828"/>
                </a:solidFill>
                <a:latin typeface="Yu Gothic"/>
              </a:rPr>
              <a:t>弱み W</a:t>
            </a:r>
          </a:p>
        </p:txBody>
      </p:sp>
      <p:sp>
        <p:nvSpPr>
          <p:cNvPr id="12" name="TextBox 11"/>
          <p:cNvSpPr txBox="1"/>
          <p:nvPr/>
        </p:nvSpPr>
        <p:spPr>
          <a:xfrm>
            <a:off x="6355080" y="1691640"/>
            <a:ext cx="5120640" cy="1783080"/>
          </a:xfrm>
          <a:prstGeom prst="rect">
            <a:avLst/>
          </a:prstGeom>
          <a:noFill/>
        </p:spPr>
        <p:txBody>
          <a:bodyPr wrap="square" anchor="t">
            <a:spAutoFit/>
          </a:bodyPr>
          <a:lstStyle/>
          <a:p>
            <a:pPr algn="l">
              <a:spcAft>
                <a:spcPts val="200"/>
              </a:spcAft>
            </a:pPr>
            <a:r>
              <a:rPr sz="1050" b="1">
                <a:solidFill>
                  <a:srgbClr val="2E7D32"/>
                </a:solidFill>
                <a:latin typeface="Yu Gothic"/>
              </a:rPr>
              <a:t>▪ </a:t>
            </a:r>
            <a:r>
              <a:rPr sz="1050" b="0">
                <a:solidFill>
                  <a:srgbClr val="222222"/>
                </a:solidFill>
                <a:latin typeface="Yu Gothic"/>
              </a:rPr>
              <a:t>ウェルネス事業としては実績ゼロ・無名</a:t>
            </a:r>
          </a:p>
          <a:p>
            <a:pPr algn="l">
              <a:spcAft>
                <a:spcPts val="200"/>
              </a:spcAft>
            </a:pPr>
            <a:r>
              <a:rPr sz="1050" b="1">
                <a:solidFill>
                  <a:srgbClr val="2E7D32"/>
                </a:solidFill>
                <a:latin typeface="Yu Gothic"/>
              </a:rPr>
              <a:t>▪ </a:t>
            </a:r>
            <a:r>
              <a:rPr sz="1050" b="0">
                <a:solidFill>
                  <a:srgbClr val="222222"/>
                </a:solidFill>
                <a:latin typeface="Yu Gothic"/>
              </a:rPr>
              <a:t>担当1名（伴走上限5〜6社が物理限界）</a:t>
            </a:r>
          </a:p>
          <a:p>
            <a:pPr algn="l">
              <a:spcAft>
                <a:spcPts val="200"/>
              </a:spcAft>
            </a:pPr>
            <a:r>
              <a:rPr sz="1050" b="1">
                <a:solidFill>
                  <a:srgbClr val="2E7D32"/>
                </a:solidFill>
                <a:latin typeface="Yu Gothic"/>
              </a:rPr>
              <a:t>▪ </a:t>
            </a:r>
            <a:r>
              <a:rPr sz="1050" b="0">
                <a:solidFill>
                  <a:srgbClr val="222222"/>
                </a:solidFill>
                <a:latin typeface="Yu Gothic"/>
              </a:rPr>
              <a:t>保険募集人の再登録が未完了</a:t>
            </a:r>
          </a:p>
          <a:p>
            <a:pPr algn="l">
              <a:spcAft>
                <a:spcPts val="200"/>
              </a:spcAft>
            </a:pPr>
            <a:r>
              <a:rPr sz="1050" b="1">
                <a:solidFill>
                  <a:srgbClr val="2E7D32"/>
                </a:solidFill>
                <a:latin typeface="Yu Gothic"/>
              </a:rPr>
              <a:t>▪ </a:t>
            </a:r>
            <a:r>
              <a:rPr sz="1050" b="0">
                <a:solidFill>
                  <a:srgbClr val="222222"/>
                </a:solidFill>
                <a:latin typeface="Yu Gothic"/>
              </a:rPr>
              <a:t>サウナ・睡眠に企業が金を払うかは未実証</a:t>
            </a:r>
          </a:p>
        </p:txBody>
      </p:sp>
      <p:sp>
        <p:nvSpPr>
          <p:cNvPr id="13" name="TextBox 12"/>
          <p:cNvSpPr txBox="1"/>
          <p:nvPr/>
        </p:nvSpPr>
        <p:spPr>
          <a:xfrm>
            <a:off x="731520" y="3776472"/>
            <a:ext cx="5120640" cy="365760"/>
          </a:xfrm>
          <a:prstGeom prst="rect">
            <a:avLst/>
          </a:prstGeom>
          <a:noFill/>
        </p:spPr>
        <p:txBody>
          <a:bodyPr wrap="square" anchor="t">
            <a:spAutoFit/>
          </a:bodyPr>
          <a:lstStyle/>
          <a:p>
            <a:pPr algn="l"/>
            <a:r>
              <a:rPr sz="1500" b="1">
                <a:solidFill>
                  <a:srgbClr val="2E7D32"/>
                </a:solidFill>
                <a:latin typeface="Yu Gothic"/>
              </a:rPr>
              <a:t>機会 O</a:t>
            </a:r>
          </a:p>
        </p:txBody>
      </p:sp>
      <p:sp>
        <p:nvSpPr>
          <p:cNvPr id="14" name="TextBox 13"/>
          <p:cNvSpPr txBox="1"/>
          <p:nvPr/>
        </p:nvSpPr>
        <p:spPr>
          <a:xfrm>
            <a:off x="731520" y="4160520"/>
            <a:ext cx="5120640" cy="1783080"/>
          </a:xfrm>
          <a:prstGeom prst="rect">
            <a:avLst/>
          </a:prstGeom>
          <a:noFill/>
        </p:spPr>
        <p:txBody>
          <a:bodyPr wrap="square" anchor="t">
            <a:spAutoFit/>
          </a:bodyPr>
          <a:lstStyle/>
          <a:p>
            <a:pPr algn="l">
              <a:spcAft>
                <a:spcPts val="200"/>
              </a:spcAft>
            </a:pPr>
            <a:r>
              <a:rPr sz="1050" b="1">
                <a:solidFill>
                  <a:srgbClr val="2E7D32"/>
                </a:solidFill>
                <a:latin typeface="Yu Gothic"/>
              </a:rPr>
              <a:t>▪ </a:t>
            </a:r>
            <a:r>
              <a:rPr sz="1050" b="0">
                <a:solidFill>
                  <a:srgbClr val="222222"/>
                </a:solidFill>
                <a:latin typeface="Yu Gothic"/>
              </a:rPr>
              <a:t>認定中小が6年で7.5倍に急増（90→679社）</a:t>
            </a:r>
          </a:p>
          <a:p>
            <a:pPr algn="l">
              <a:spcAft>
                <a:spcPts val="200"/>
              </a:spcAft>
            </a:pPr>
            <a:r>
              <a:rPr sz="1050" b="1">
                <a:solidFill>
                  <a:srgbClr val="2E7D32"/>
                </a:solidFill>
                <a:latin typeface="Yu Gothic"/>
              </a:rPr>
              <a:t>▪ </a:t>
            </a:r>
            <a:r>
              <a:rPr sz="1050" b="0">
                <a:solidFill>
                  <a:srgbClr val="222222"/>
                </a:solidFill>
                <a:latin typeface="Yu Gothic"/>
              </a:rPr>
              <a:t>国が「睡眠」を健康経営の評価軸に追加（令和5年度〜）</a:t>
            </a:r>
          </a:p>
          <a:p>
            <a:pPr algn="l">
              <a:spcAft>
                <a:spcPts val="200"/>
              </a:spcAft>
            </a:pPr>
            <a:r>
              <a:rPr sz="1050" b="1">
                <a:solidFill>
                  <a:srgbClr val="2E7D32"/>
                </a:solidFill>
                <a:latin typeface="Yu Gothic"/>
              </a:rPr>
              <a:t>▪ </a:t>
            </a:r>
            <a:r>
              <a:rPr sz="1050" b="0">
                <a:solidFill>
                  <a:srgbClr val="222222"/>
                </a:solidFill>
                <a:latin typeface="Yu Gothic"/>
              </a:rPr>
              <a:t>仮眠室に助成金（最大3/4補助）が使える</a:t>
            </a:r>
          </a:p>
          <a:p>
            <a:pPr algn="l">
              <a:spcAft>
                <a:spcPts val="200"/>
              </a:spcAft>
            </a:pPr>
            <a:r>
              <a:rPr sz="1050" b="1">
                <a:solidFill>
                  <a:srgbClr val="2E7D32"/>
                </a:solidFill>
                <a:latin typeface="Yu Gothic"/>
              </a:rPr>
              <a:t>▪ </a:t>
            </a:r>
            <a:r>
              <a:rPr sz="1050" b="0">
                <a:solidFill>
                  <a:srgbClr val="222222"/>
                </a:solidFill>
                <a:latin typeface="Yu Gothic"/>
              </a:rPr>
              <a:t>「取得後の伴走」市場はどの競合も手つかず</a:t>
            </a:r>
          </a:p>
        </p:txBody>
      </p:sp>
      <p:sp>
        <p:nvSpPr>
          <p:cNvPr id="15" name="TextBox 14"/>
          <p:cNvSpPr txBox="1"/>
          <p:nvPr/>
        </p:nvSpPr>
        <p:spPr>
          <a:xfrm>
            <a:off x="6355080" y="3776472"/>
            <a:ext cx="5120640" cy="365760"/>
          </a:xfrm>
          <a:prstGeom prst="rect">
            <a:avLst/>
          </a:prstGeom>
          <a:noFill/>
        </p:spPr>
        <p:txBody>
          <a:bodyPr wrap="square" anchor="t">
            <a:spAutoFit/>
          </a:bodyPr>
          <a:lstStyle/>
          <a:p>
            <a:pPr algn="l"/>
            <a:r>
              <a:rPr sz="1500" b="1">
                <a:solidFill>
                  <a:srgbClr val="C62828"/>
                </a:solidFill>
                <a:latin typeface="Yu Gothic"/>
              </a:rPr>
              <a:t>脅威 T</a:t>
            </a:r>
          </a:p>
        </p:txBody>
      </p:sp>
      <p:sp>
        <p:nvSpPr>
          <p:cNvPr id="16" name="TextBox 15"/>
          <p:cNvSpPr txBox="1"/>
          <p:nvPr/>
        </p:nvSpPr>
        <p:spPr>
          <a:xfrm>
            <a:off x="6355080" y="4160520"/>
            <a:ext cx="5120640" cy="1783080"/>
          </a:xfrm>
          <a:prstGeom prst="rect">
            <a:avLst/>
          </a:prstGeom>
          <a:noFill/>
        </p:spPr>
        <p:txBody>
          <a:bodyPr wrap="square" anchor="t">
            <a:spAutoFit/>
          </a:bodyPr>
          <a:lstStyle/>
          <a:p>
            <a:pPr algn="l">
              <a:spcAft>
                <a:spcPts val="200"/>
              </a:spcAft>
            </a:pPr>
            <a:r>
              <a:rPr sz="1050" b="1">
                <a:solidFill>
                  <a:srgbClr val="2E7D32"/>
                </a:solidFill>
                <a:latin typeface="Yu Gothic"/>
              </a:rPr>
              <a:t>▪ </a:t>
            </a:r>
            <a:r>
              <a:rPr sz="1050" b="0">
                <a:solidFill>
                  <a:srgbClr val="222222"/>
                </a:solidFill>
                <a:latin typeface="Yu Gothic"/>
              </a:rPr>
              <a:t>無料支援（保険会社×商工会議所）が入口を席巻</a:t>
            </a:r>
          </a:p>
          <a:p>
            <a:pPr algn="l">
              <a:spcAft>
                <a:spcPts val="200"/>
              </a:spcAft>
            </a:pPr>
            <a:r>
              <a:rPr sz="1050" b="1">
                <a:solidFill>
                  <a:srgbClr val="2E7D32"/>
                </a:solidFill>
                <a:latin typeface="Yu Gothic"/>
              </a:rPr>
              <a:t>▪ </a:t>
            </a:r>
            <a:r>
              <a:rPr sz="1050" b="0">
                <a:solidFill>
                  <a:srgbClr val="222222"/>
                </a:solidFill>
                <a:latin typeface="Yu Gothic"/>
              </a:rPr>
              <a:t>中小の予算は薄く、高単価は通りにくい</a:t>
            </a:r>
          </a:p>
          <a:p>
            <a:pPr algn="l">
              <a:spcAft>
                <a:spcPts val="200"/>
              </a:spcAft>
            </a:pPr>
            <a:r>
              <a:rPr sz="1050" b="1">
                <a:solidFill>
                  <a:srgbClr val="2E7D32"/>
                </a:solidFill>
                <a:latin typeface="Yu Gothic"/>
              </a:rPr>
              <a:t>▪ </a:t>
            </a:r>
            <a:r>
              <a:rPr sz="1050" b="0">
                <a:solidFill>
                  <a:srgbClr val="222222"/>
                </a:solidFill>
                <a:latin typeface="Yu Gothic"/>
              </a:rPr>
              <a:t>解約率が高いと事業が成り立たない（継続率90%が生命線)</a:t>
            </a:r>
          </a:p>
          <a:p>
            <a:pPr algn="l">
              <a:spcAft>
                <a:spcPts val="200"/>
              </a:spcAft>
            </a:pPr>
            <a:r>
              <a:rPr sz="1050" b="1">
                <a:solidFill>
                  <a:srgbClr val="2E7D32"/>
                </a:solidFill>
                <a:latin typeface="Yu Gothic"/>
              </a:rPr>
              <a:t>▪ </a:t>
            </a:r>
            <a:r>
              <a:rPr sz="1050" b="0">
                <a:solidFill>
                  <a:srgbClr val="222222"/>
                </a:solidFill>
                <a:latin typeface="Yu Gothic"/>
              </a:rPr>
              <a:t>本業（施工）の繁忙と人手の取り合い</a:t>
            </a:r>
          </a:p>
        </p:txBody>
      </p:sp>
      <p:sp>
        <p:nvSpPr>
          <p:cNvPr id="17" name="TextBox 16"/>
          <p:cNvSpPr txBox="1"/>
          <p:nvPr/>
        </p:nvSpPr>
        <p:spPr>
          <a:xfrm>
            <a:off x="548640" y="6172200"/>
            <a:ext cx="11064240" cy="457200"/>
          </a:xfrm>
          <a:prstGeom prst="rect">
            <a:avLst/>
          </a:prstGeom>
          <a:noFill/>
        </p:spPr>
        <p:txBody>
          <a:bodyPr wrap="square" anchor="t">
            <a:spAutoFit/>
          </a:bodyPr>
          <a:lstStyle/>
          <a:p>
            <a:pPr algn="l"/>
            <a:r>
              <a:rPr sz="1300" b="1">
                <a:solidFill>
                  <a:srgbClr val="1F3A5F"/>
                </a:solidFill>
                <a:latin typeface="Yu Gothic"/>
              </a:rPr>
              <a:t>S×O＝実感の有償化（体験×測定×施工）／ W×T＝入口は無料勢に譲り、保険は従、まず自社実証でWを潰す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06  </a:t>
            </a:r>
            <a:r>
              <a:rPr sz="2200" b="1">
                <a:solidFill>
                  <a:srgbClr val="FFFFFF"/>
                </a:solidFill>
                <a:latin typeface="Yu Gothic"/>
              </a:rPr>
              <a:t>商品ラインナップと売り方（会社案）</a:t>
            </a:r>
          </a:p>
        </p:txBody>
      </p:sp>
      <p:graphicFrame>
        <p:nvGraphicFramePr>
          <p:cNvPr id="4" name="Table 3"/>
          <p:cNvGraphicFramePr>
            <a:graphicFrameLocks noGrp="1"/>
          </p:cNvGraphicFramePr>
          <p:nvPr/>
        </p:nvGraphicFramePr>
        <p:xfrm>
          <a:off x="548640" y="1280160"/>
          <a:ext cx="11064239" cy="3584448"/>
        </p:xfrm>
        <a:graphic>
          <a:graphicData uri="http://schemas.openxmlformats.org/drawingml/2006/table">
            <a:tbl>
              <a:tblPr firstRow="1" bandRow="1">
                <a:tableStyleId>{5C22544A-7EE6-4342-B048-85BDC9FD1C3A}</a:tableStyleId>
              </a:tblPr>
              <a:tblGrid>
                <a:gridCol w="2985588"/>
                <a:gridCol w="2458720"/>
                <a:gridCol w="5619931"/>
              </a:tblGrid>
              <a:tr h="512064">
                <a:tc>
                  <a:txBody>
                    <a:bodyPr wrap="square"/>
                    <a:lstStyle/>
                    <a:p>
                      <a:r>
                        <a:rPr sz="1100" b="1">
                          <a:solidFill>
                            <a:srgbClr val="FFFFFF"/>
                          </a:solidFill>
                          <a:latin typeface="Yu Gothic"/>
                        </a:rPr>
                        <a:t>商品</a:t>
                      </a:r>
                    </a:p>
                  </a:txBody>
                  <a:tcPr marL="54864" marR="54864" marT="18288" marB="18288">
                    <a:solidFill>
                      <a:srgbClr val="1F3A5F"/>
                    </a:solidFill>
                  </a:tcPr>
                </a:tc>
                <a:tc>
                  <a:txBody>
                    <a:bodyPr wrap="square"/>
                    <a:lstStyle/>
                    <a:p>
                      <a:r>
                        <a:rPr sz="1100" b="1">
                          <a:solidFill>
                            <a:srgbClr val="FFFFFF"/>
                          </a:solidFill>
                          <a:latin typeface="Yu Gothic"/>
                        </a:rPr>
                        <a:t>価格の目安</a:t>
                      </a:r>
                    </a:p>
                  </a:txBody>
                  <a:tcPr marL="54864" marR="54864" marT="18288" marB="18288">
                    <a:solidFill>
                      <a:srgbClr val="1F3A5F"/>
                    </a:solidFill>
                  </a:tcPr>
                </a:tc>
                <a:tc>
                  <a:txBody>
                    <a:bodyPr wrap="square"/>
                    <a:lstStyle/>
                    <a:p>
                      <a:r>
                        <a:rPr sz="1100" b="1">
                          <a:solidFill>
                            <a:srgbClr val="FFFFFF"/>
                          </a:solidFill>
                          <a:latin typeface="Yu Gothic"/>
                        </a:rPr>
                        <a:t>売り方の方針</a:t>
                      </a:r>
                    </a:p>
                  </a:txBody>
                  <a:tcPr marL="54864" marR="54864" marT="18288" marB="18288">
                    <a:solidFill>
                      <a:srgbClr val="1F3A5F"/>
                    </a:solidFill>
                  </a:tcPr>
                </a:tc>
              </a:tr>
              <a:tr h="512064">
                <a:tc>
                  <a:txBody>
                    <a:bodyPr wrap="square"/>
                    <a:lstStyle/>
                    <a:p>
                      <a:r>
                        <a:rPr sz="1050" b="0">
                          <a:solidFill>
                            <a:srgbClr val="222222"/>
                          </a:solidFill>
                          <a:latin typeface="Yu Gothic"/>
                        </a:rPr>
                        <a:t>社長の睡眠測定（入口）</a:t>
                      </a:r>
                    </a:p>
                  </a:txBody>
                  <a:tcPr marL="54864" marR="54864" marT="18288" marB="18288">
                    <a:solidFill>
                      <a:srgbClr val="FFFFFF"/>
                    </a:solidFill>
                  </a:tcPr>
                </a:tc>
                <a:tc>
                  <a:txBody>
                    <a:bodyPr wrap="square"/>
                    <a:lstStyle/>
                    <a:p>
                      <a:r>
                        <a:rPr sz="1050" b="0">
                          <a:solidFill>
                            <a:srgbClr val="222222"/>
                          </a:solidFill>
                          <a:latin typeface="Yu Gothic"/>
                        </a:rPr>
                        <a:t>1〜3万</a:t>
                      </a:r>
                    </a:p>
                  </a:txBody>
                  <a:tcPr marL="54864" marR="54864" marT="18288" marB="18288">
                    <a:solidFill>
                      <a:srgbClr val="FFFFFF"/>
                    </a:solidFill>
                  </a:tcPr>
                </a:tc>
                <a:tc>
                  <a:txBody>
                    <a:bodyPr wrap="square"/>
                    <a:lstStyle/>
                    <a:p>
                      <a:r>
                        <a:rPr sz="1050" b="0">
                          <a:solidFill>
                            <a:srgbClr val="222222"/>
                          </a:solidFill>
                          <a:latin typeface="Yu Gothic"/>
                        </a:rPr>
                        <a:t>未着手層にも「健康経営」と言わずに売れる。まず社長個人の体感から</a:t>
                      </a:r>
                    </a:p>
                  </a:txBody>
                  <a:tcPr marL="54864" marR="54864" marT="18288" marB="18288">
                    <a:solidFill>
                      <a:srgbClr val="FFFFFF"/>
                    </a:solidFill>
                  </a:tcPr>
                </a:tc>
              </a:tr>
              <a:tr h="512064">
                <a:tc>
                  <a:txBody>
                    <a:bodyPr wrap="square"/>
                    <a:lstStyle/>
                    <a:p>
                      <a:r>
                        <a:rPr sz="1050" b="0">
                          <a:solidFill>
                            <a:srgbClr val="222222"/>
                          </a:solidFill>
                          <a:latin typeface="Yu Gothic"/>
                        </a:rPr>
                        <a:t>KOWA SAUNA 法人契約</a:t>
                      </a:r>
                    </a:p>
                  </a:txBody>
                  <a:tcPr marL="54864" marR="54864" marT="18288" marB="18288">
                    <a:solidFill>
                      <a:srgbClr val="F2F5F8"/>
                    </a:solidFill>
                  </a:tcPr>
                </a:tc>
                <a:tc>
                  <a:txBody>
                    <a:bodyPr wrap="square"/>
                    <a:lstStyle/>
                    <a:p>
                      <a:r>
                        <a:rPr sz="1050" b="0">
                          <a:solidFill>
                            <a:srgbClr val="222222"/>
                          </a:solidFill>
                          <a:latin typeface="Yu Gothic"/>
                        </a:rPr>
                        <a:t>年1.2万〜月4.5万</a:t>
                      </a:r>
                    </a:p>
                  </a:txBody>
                  <a:tcPr marL="54864" marR="54864" marT="18288" marB="18288">
                    <a:solidFill>
                      <a:srgbClr val="F2F5F8"/>
                    </a:solidFill>
                  </a:tcPr>
                </a:tc>
                <a:tc>
                  <a:txBody>
                    <a:bodyPr wrap="square"/>
                    <a:lstStyle/>
                    <a:p>
                      <a:r>
                        <a:rPr sz="1050" b="0">
                          <a:solidFill>
                            <a:srgbClr val="222222"/>
                          </a:solidFill>
                          <a:latin typeface="Yu Gothic"/>
                        </a:rPr>
                        <a:t>空き稼働の活用。税務3点セット（規程ひな形等）同梱で差別化</a:t>
                      </a:r>
                    </a:p>
                  </a:txBody>
                  <a:tcPr marL="54864" marR="54864" marT="18288" marB="18288">
                    <a:solidFill>
                      <a:srgbClr val="F2F5F8"/>
                    </a:solidFill>
                  </a:tcPr>
                </a:tc>
              </a:tr>
              <a:tr h="512064">
                <a:tc>
                  <a:txBody>
                    <a:bodyPr wrap="square"/>
                    <a:lstStyle/>
                    <a:p>
                      <a:r>
                        <a:rPr sz="1050" b="0">
                          <a:solidFill>
                            <a:srgbClr val="222222"/>
                          </a:solidFill>
                          <a:latin typeface="Yu Gothic"/>
                        </a:rPr>
                        <a:t>認定取得・更新パック</a:t>
                      </a:r>
                    </a:p>
                  </a:txBody>
                  <a:tcPr marL="54864" marR="54864" marT="18288" marB="18288">
                    <a:solidFill>
                      <a:srgbClr val="FFFFFF"/>
                    </a:solidFill>
                  </a:tcPr>
                </a:tc>
                <a:tc>
                  <a:txBody>
                    <a:bodyPr wrap="square"/>
                    <a:lstStyle/>
                    <a:p>
                      <a:r>
                        <a:rPr sz="1050" b="0">
                          <a:solidFill>
                            <a:srgbClr val="222222"/>
                          </a:solidFill>
                          <a:latin typeface="Yu Gothic"/>
                        </a:rPr>
                        <a:t>30万・成果報酬</a:t>
                      </a:r>
                    </a:p>
                  </a:txBody>
                  <a:tcPr marL="54864" marR="54864" marT="18288" marB="18288">
                    <a:solidFill>
                      <a:srgbClr val="FFFFFF"/>
                    </a:solidFill>
                  </a:tcPr>
                </a:tc>
                <a:tc>
                  <a:txBody>
                    <a:bodyPr wrap="square"/>
                    <a:lstStyle/>
                    <a:p>
                      <a:r>
                        <a:rPr sz="1050" b="0">
                          <a:solidFill>
                            <a:srgbClr val="222222"/>
                          </a:solidFill>
                          <a:latin typeface="Yu Gothic"/>
                        </a:rPr>
                        <a:t>「取れなければ後金なし」。認定済み企業には更新版を</a:t>
                      </a:r>
                    </a:p>
                  </a:txBody>
                  <a:tcPr marL="54864" marR="54864" marT="18288" marB="18288">
                    <a:solidFill>
                      <a:srgbClr val="FFFFFF"/>
                    </a:solidFill>
                  </a:tcPr>
                </a:tc>
              </a:tr>
              <a:tr h="512064">
                <a:tc>
                  <a:txBody>
                    <a:bodyPr wrap="square"/>
                    <a:lstStyle/>
                    <a:p>
                      <a:r>
                        <a:rPr sz="1050" b="0">
                          <a:solidFill>
                            <a:srgbClr val="222222"/>
                          </a:solidFill>
                          <a:latin typeface="Yu Gothic"/>
                        </a:rPr>
                        <a:t>ライト顧問／年間パック</a:t>
                      </a:r>
                    </a:p>
                  </a:txBody>
                  <a:tcPr marL="54864" marR="54864" marT="18288" marB="18288">
                    <a:solidFill>
                      <a:srgbClr val="F2F5F8"/>
                    </a:solidFill>
                  </a:tcPr>
                </a:tc>
                <a:tc>
                  <a:txBody>
                    <a:bodyPr wrap="square"/>
                    <a:lstStyle/>
                    <a:p>
                      <a:r>
                        <a:rPr sz="1050" b="0">
                          <a:solidFill>
                            <a:srgbClr val="222222"/>
                          </a:solidFill>
                          <a:latin typeface="Yu Gothic"/>
                        </a:rPr>
                        <a:t>月1.5万／年48万</a:t>
                      </a:r>
                    </a:p>
                  </a:txBody>
                  <a:tcPr marL="54864" marR="54864" marT="18288" marB="18288">
                    <a:solidFill>
                      <a:srgbClr val="F2F5F8"/>
                    </a:solidFill>
                  </a:tcPr>
                </a:tc>
                <a:tc>
                  <a:txBody>
                    <a:bodyPr wrap="square"/>
                    <a:lstStyle/>
                    <a:p>
                      <a:r>
                        <a:rPr sz="1050" b="0">
                          <a:solidFill>
                            <a:srgbClr val="222222"/>
                          </a:solidFill>
                          <a:latin typeface="Yu Gothic"/>
                        </a:rPr>
                        <a:t>セミナー6本＋測定で「何もない月」を作らない。継続が生命線</a:t>
                      </a:r>
                    </a:p>
                  </a:txBody>
                  <a:tcPr marL="54864" marR="54864" marT="18288" marB="18288">
                    <a:solidFill>
                      <a:srgbClr val="F2F5F8"/>
                    </a:solidFill>
                  </a:tcPr>
                </a:tc>
              </a:tr>
              <a:tr h="512064">
                <a:tc>
                  <a:txBody>
                    <a:bodyPr wrap="square"/>
                    <a:lstStyle/>
                    <a:p>
                      <a:r>
                        <a:rPr sz="1050" b="0">
                          <a:solidFill>
                            <a:srgbClr val="222222"/>
                          </a:solidFill>
                          <a:latin typeface="Yu Gothic"/>
                        </a:rPr>
                        <a:t>ブレインスリープ優待販売</a:t>
                      </a:r>
                    </a:p>
                  </a:txBody>
                  <a:tcPr marL="54864" marR="54864" marT="18288" marB="18288">
                    <a:solidFill>
                      <a:srgbClr val="FFFFFF"/>
                    </a:solidFill>
                  </a:tcPr>
                </a:tc>
                <a:tc>
                  <a:txBody>
                    <a:bodyPr wrap="square"/>
                    <a:lstStyle/>
                    <a:p>
                      <a:r>
                        <a:rPr sz="1050" b="0">
                          <a:solidFill>
                            <a:srgbClr val="222222"/>
                          </a:solidFill>
                          <a:latin typeface="Yu Gothic"/>
                        </a:rPr>
                        <a:t>契約企業の社員は定価の80%</a:t>
                      </a:r>
                    </a:p>
                  </a:txBody>
                  <a:tcPr marL="54864" marR="54864" marT="18288" marB="18288">
                    <a:solidFill>
                      <a:srgbClr val="FFFFFF"/>
                    </a:solidFill>
                  </a:tcPr>
                </a:tc>
                <a:tc>
                  <a:txBody>
                    <a:bodyPr wrap="square"/>
                    <a:lstStyle/>
                    <a:p>
                      <a:r>
                        <a:rPr sz="1050" b="0">
                          <a:solidFill>
                            <a:srgbClr val="222222"/>
                          </a:solidFill>
                          <a:latin typeface="Yu Gothic"/>
                        </a:rPr>
                        <a:t>「うちと契約すると社員がお得」。卸条件確定後に開始</a:t>
                      </a:r>
                    </a:p>
                  </a:txBody>
                  <a:tcPr marL="54864" marR="54864" marT="18288" marB="18288">
                    <a:solidFill>
                      <a:srgbClr val="FFFFFF"/>
                    </a:solidFill>
                  </a:tcPr>
                </a:tc>
              </a:tr>
              <a:tr h="512064">
                <a:tc>
                  <a:txBody>
                    <a:bodyPr wrap="square"/>
                    <a:lstStyle/>
                    <a:p>
                      <a:r>
                        <a:rPr sz="1050" b="0">
                          <a:solidFill>
                            <a:srgbClr val="222222"/>
                          </a:solidFill>
                          <a:latin typeface="Yu Gothic"/>
                        </a:rPr>
                        <a:t>仮眠室・サウナ設置工事</a:t>
                      </a:r>
                    </a:p>
                  </a:txBody>
                  <a:tcPr marL="54864" marR="54864" marT="18288" marB="18288">
                    <a:solidFill>
                      <a:srgbClr val="F2F5F8"/>
                    </a:solidFill>
                  </a:tcPr>
                </a:tc>
                <a:tc>
                  <a:txBody>
                    <a:bodyPr wrap="square"/>
                    <a:lstStyle/>
                    <a:p>
                      <a:r>
                        <a:rPr sz="1050" b="0">
                          <a:solidFill>
                            <a:srgbClr val="222222"/>
                          </a:solidFill>
                          <a:latin typeface="Yu Gothic"/>
                        </a:rPr>
                        <a:t>35〜300万＋助成金</a:t>
                      </a:r>
                    </a:p>
                  </a:txBody>
                  <a:tcPr marL="54864" marR="54864" marT="18288" marB="18288">
                    <a:solidFill>
                      <a:srgbClr val="F2F5F8"/>
                    </a:solidFill>
                  </a:tcPr>
                </a:tc>
                <a:tc>
                  <a:txBody>
                    <a:bodyPr wrap="square"/>
                    <a:lstStyle/>
                    <a:p>
                      <a:r>
                        <a:rPr sz="1050" b="0">
                          <a:solidFill>
                            <a:srgbClr val="222222"/>
                          </a:solidFill>
                          <a:latin typeface="Yu Gothic"/>
                        </a:rPr>
                        <a:t>施工は本体。ウェルネスが本業に仕事をつなぐ</a:t>
                      </a:r>
                    </a:p>
                  </a:txBody>
                  <a:tcPr marL="54864" marR="54864" marT="18288" marB="18288">
                    <a:solidFill>
                      <a:srgbClr val="F2F5F8"/>
                    </a:solidFill>
                  </a:tcPr>
                </a:tc>
              </a:tr>
            </a:tbl>
          </a:graphicData>
        </a:graphic>
      </p:graphicFrame>
      <p:sp>
        <p:nvSpPr>
          <p:cNvPr id="5" name="TextBox 4"/>
          <p:cNvSpPr txBox="1"/>
          <p:nvPr/>
        </p:nvSpPr>
        <p:spPr>
          <a:xfrm>
            <a:off x="548640" y="4937760"/>
            <a:ext cx="11064240" cy="1371600"/>
          </a:xfrm>
          <a:prstGeom prst="rect">
            <a:avLst/>
          </a:prstGeom>
          <a:noFill/>
        </p:spPr>
        <p:txBody>
          <a:bodyPr wrap="square" anchor="t">
            <a:spAutoFit/>
          </a:bodyPr>
          <a:lstStyle/>
          <a:p>
            <a:pPr algn="l"/>
            <a:r>
              <a:rPr sz="1400" b="1">
                <a:solidFill>
                  <a:srgbClr val="1F3A5F"/>
                </a:solidFill>
                <a:latin typeface="Yu Gothic"/>
              </a:rPr>
              <a:t>3原則：</a:t>
            </a:r>
            <a:r>
              <a:rPr sz="1350" b="0">
                <a:solidFill>
                  <a:srgbClr val="222222"/>
                </a:solidFill>
                <a:latin typeface="Yu Gothic"/>
              </a:rPr>
              <a:t>①無料勢と価格で戦わない（入口は譲る）　②自社で実証してから売る　③保険は再登録完了まで扱わず、完了後も従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07  </a:t>
            </a:r>
            <a:r>
              <a:rPr sz="2200" b="1">
                <a:solidFill>
                  <a:srgbClr val="FFFFFF"/>
                </a:solidFill>
                <a:latin typeface="Yu Gothic"/>
              </a:rPr>
              <a:t>睡眠計測の実務 ― 「測って、施策して、また測る」</a:t>
            </a:r>
          </a:p>
        </p:txBody>
      </p:sp>
      <p:graphicFrame>
        <p:nvGraphicFramePr>
          <p:cNvPr id="4" name="Table 3"/>
          <p:cNvGraphicFramePr>
            <a:graphicFrameLocks noGrp="1"/>
          </p:cNvGraphicFramePr>
          <p:nvPr/>
        </p:nvGraphicFramePr>
        <p:xfrm>
          <a:off x="548640" y="1280160"/>
          <a:ext cx="11064240" cy="2743200"/>
        </p:xfrm>
        <a:graphic>
          <a:graphicData uri="http://schemas.openxmlformats.org/drawingml/2006/table">
            <a:tbl>
              <a:tblPr firstRow="1" bandRow="1">
                <a:tableStyleId>{5C22544A-7EE6-4342-B048-85BDC9FD1C3A}</a:tableStyleId>
              </a:tblPr>
              <a:tblGrid>
                <a:gridCol w="2377440"/>
                <a:gridCol w="4572000"/>
                <a:gridCol w="4114800"/>
              </a:tblGrid>
              <a:tr h="914400">
                <a:tc>
                  <a:txBody>
                    <a:bodyPr wrap="square"/>
                    <a:lstStyle/>
                    <a:p>
                      <a:r>
                        <a:rPr sz="1100" b="1">
                          <a:solidFill>
                            <a:srgbClr val="FFFFFF"/>
                          </a:solidFill>
                          <a:latin typeface="Yu Gothic"/>
                        </a:rPr>
                        <a:t>方式</a:t>
                      </a:r>
                    </a:p>
                  </a:txBody>
                  <a:tcPr marL="54864" marR="54864" marT="18288" marB="18288">
                    <a:solidFill>
                      <a:srgbClr val="1F3A5F"/>
                    </a:solidFill>
                  </a:tcPr>
                </a:tc>
                <a:tc>
                  <a:txBody>
                    <a:bodyPr wrap="square"/>
                    <a:lstStyle/>
                    <a:p>
                      <a:r>
                        <a:rPr sz="1100" b="1">
                          <a:solidFill>
                            <a:srgbClr val="FFFFFF"/>
                          </a:solidFill>
                          <a:latin typeface="Yu Gothic"/>
                        </a:rPr>
                        <a:t>やり方</a:t>
                      </a:r>
                    </a:p>
                  </a:txBody>
                  <a:tcPr marL="54864" marR="54864" marT="18288" marB="18288">
                    <a:solidFill>
                      <a:srgbClr val="1F3A5F"/>
                    </a:solidFill>
                  </a:tcPr>
                </a:tc>
                <a:tc>
                  <a:txBody>
                    <a:bodyPr wrap="square"/>
                    <a:lstStyle/>
                    <a:p>
                      <a:r>
                        <a:rPr sz="1100" b="1">
                          <a:solidFill>
                            <a:srgbClr val="FFFFFF"/>
                          </a:solidFill>
                          <a:latin typeface="Yu Gothic"/>
                        </a:rPr>
                        <a:t>使いどころ</a:t>
                      </a:r>
                    </a:p>
                  </a:txBody>
                  <a:tcPr marL="54864" marR="54864" marT="18288" marB="18288">
                    <a:solidFill>
                      <a:srgbClr val="1F3A5F"/>
                    </a:solidFill>
                  </a:tcPr>
                </a:tc>
              </a:tr>
              <a:tr h="914400">
                <a:tc>
                  <a:txBody>
                    <a:bodyPr wrap="square"/>
                    <a:lstStyle/>
                    <a:p>
                      <a:r>
                        <a:rPr sz="1100" b="0">
                          <a:solidFill>
                            <a:srgbClr val="222222"/>
                          </a:solidFill>
                          <a:latin typeface="Yu Gothic"/>
                        </a:rPr>
                        <a:t>① アンケート式
（睡眠偏差値）</a:t>
                      </a:r>
                    </a:p>
                  </a:txBody>
                  <a:tcPr marL="54864" marR="54864" marT="18288" marB="18288">
                    <a:solidFill>
                      <a:srgbClr val="FFFFFF"/>
                    </a:solidFill>
                  </a:tcPr>
                </a:tc>
                <a:tc>
                  <a:txBody>
                    <a:bodyPr wrap="square"/>
                    <a:lstStyle/>
                    <a:p>
                      <a:r>
                        <a:rPr sz="1100" b="0">
                          <a:solidFill>
                            <a:srgbClr val="222222"/>
                          </a:solidFill>
                          <a:latin typeface="Yu Gothic"/>
                        </a:rPr>
                        <a:t>医療の問診ベース・専門家監修のWebアンケート。全国1万人データと比較し、個人と会社の睡眠を「偏差値」で数値化</a:t>
                      </a:r>
                    </a:p>
                  </a:txBody>
                  <a:tcPr marL="54864" marR="54864" marT="18288" marB="18288">
                    <a:solidFill>
                      <a:srgbClr val="FFFFFF"/>
                    </a:solidFill>
                  </a:tcPr>
                </a:tc>
                <a:tc>
                  <a:txBody>
                    <a:bodyPr wrap="square"/>
                    <a:lstStyle/>
                    <a:p>
                      <a:r>
                        <a:rPr sz="1100" b="0">
                          <a:solidFill>
                            <a:srgbClr val="222222"/>
                          </a:solidFill>
                          <a:latin typeface="Yu Gothic"/>
                        </a:rPr>
                        <a:t>全社一斉の初回測定・体験会。デバイス不要で何十人でも一度に。会社の「睡眠の通信簿」として経営報告に</a:t>
                      </a:r>
                    </a:p>
                  </a:txBody>
                  <a:tcPr marL="54864" marR="54864" marT="18288" marB="18288">
                    <a:solidFill>
                      <a:srgbClr val="FFFFFF"/>
                    </a:solidFill>
                  </a:tcPr>
                </a:tc>
              </a:tr>
              <a:tr h="914400">
                <a:tc>
                  <a:txBody>
                    <a:bodyPr wrap="square"/>
                    <a:lstStyle/>
                    <a:p>
                      <a:r>
                        <a:rPr sz="1100" b="0">
                          <a:solidFill>
                            <a:srgbClr val="222222"/>
                          </a:solidFill>
                          <a:latin typeface="Yu Gothic"/>
                        </a:rPr>
                        <a:t>② デバイス式
（ブレインスリープ コイン）</a:t>
                      </a:r>
                    </a:p>
                  </a:txBody>
                  <a:tcPr marL="54864" marR="54864" marT="18288" marB="18288">
                    <a:solidFill>
                      <a:srgbClr val="F2F5F8"/>
                    </a:solidFill>
                  </a:tcPr>
                </a:tc>
                <a:tc>
                  <a:txBody>
                    <a:bodyPr wrap="square"/>
                    <a:lstStyle/>
                    <a:p>
                      <a:r>
                        <a:rPr sz="1100" b="0">
                          <a:solidFill>
                            <a:srgbClr val="222222"/>
                          </a:solidFill>
                          <a:latin typeface="Yu Gothic"/>
                        </a:rPr>
                        <a:t>500円玉大のクリップをパジャマに着けて寝るだけ。アプリで睡眠ステージ・いびき・寝姿勢・寝床内温度を毎晩記録（電池約6ヶ月）</a:t>
                      </a:r>
                    </a:p>
                  </a:txBody>
                  <a:tcPr marL="54864" marR="54864" marT="18288" marB="18288">
                    <a:solidFill>
                      <a:srgbClr val="F2F5F8"/>
                    </a:solidFill>
                  </a:tcPr>
                </a:tc>
                <a:tc>
                  <a:txBody>
                    <a:bodyPr wrap="square"/>
                    <a:lstStyle/>
                    <a:p>
                      <a:r>
                        <a:rPr sz="1100" b="0">
                          <a:solidFill>
                            <a:srgbClr val="222222"/>
                          </a:solidFill>
                          <a:latin typeface="Yu Gothic"/>
                        </a:rPr>
                        <a:t>社長個人の精密測定（入口商品）や、施策前後のビフォー/アフター検証。数字で改善を見せる武器</a:t>
                      </a:r>
                    </a:p>
                  </a:txBody>
                  <a:tcPr marL="54864" marR="54864" marT="18288" marB="18288">
                    <a:solidFill>
                      <a:srgbClr val="F2F5F8"/>
                    </a:solidFill>
                  </a:tcPr>
                </a:tc>
              </a:tr>
            </a:tbl>
          </a:graphicData>
        </a:graphic>
      </p:graphicFrame>
      <p:sp>
        <p:nvSpPr>
          <p:cNvPr id="5" name="Rectangle 4"/>
          <p:cNvSpPr/>
          <p:nvPr/>
        </p:nvSpPr>
        <p:spPr>
          <a:xfrm>
            <a:off x="548640" y="4389120"/>
            <a:ext cx="11064240" cy="1554480"/>
          </a:xfrm>
          <a:prstGeom prst="rect">
            <a:avLst/>
          </a:prstGeom>
          <a:solidFill>
            <a:srgbClr val="E8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526280"/>
            <a:ext cx="10515600" cy="1371600"/>
          </a:xfrm>
          <a:prstGeom prst="rect">
            <a:avLst/>
          </a:prstGeom>
          <a:noFill/>
        </p:spPr>
        <p:txBody>
          <a:bodyPr wrap="square" anchor="t">
            <a:spAutoFit/>
          </a:bodyPr>
          <a:lstStyle/>
          <a:p>
            <a:pPr algn="l"/>
            <a:r>
              <a:rPr sz="1400" b="1">
                <a:solidFill>
                  <a:srgbClr val="2E7D32"/>
                </a:solidFill>
                <a:latin typeface="Yu Gothic"/>
              </a:rPr>
              <a:t>運用の型（これが商売の中身）</a:t>
            </a:r>
          </a:p>
          <a:p>
            <a:pPr algn="l"/>
            <a:r>
              <a:rPr sz="1350" b="0">
                <a:solidFill>
                  <a:srgbClr val="222222"/>
                </a:solidFill>
                <a:latin typeface="Yu Gothic"/>
              </a:rPr>
              <a:t>①で全社の現状を数値化 → セミナー・サウナ・寝具で施策 → 3ヶ月後に再測定 → 偏差値の変化を経営報告書に。</a:t>
            </a:r>
          </a:p>
          <a:p>
            <a:pPr algn="l"/>
            <a:r>
              <a:rPr sz="1350" b="1">
                <a:solidFill>
                  <a:srgbClr val="1F3A5F"/>
                </a:solidFill>
                <a:latin typeface="Yu Gothic"/>
              </a:rPr>
              <a:t>8月にまず自社の社員で一巡やる。その結果が最初の営業資料になる。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08  </a:t>
            </a:r>
            <a:r>
              <a:rPr sz="2200" b="1">
                <a:solidFill>
                  <a:srgbClr val="FFFFFF"/>
                </a:solidFill>
                <a:latin typeface="Yu Gothic"/>
              </a:rPr>
              <a:t>数字の考え方 ― 3年で組む（1年目に無理をしない）</a:t>
            </a:r>
          </a:p>
        </p:txBody>
      </p:sp>
      <p:graphicFrame>
        <p:nvGraphicFramePr>
          <p:cNvPr id="4" name="Table 3"/>
          <p:cNvGraphicFramePr>
            <a:graphicFrameLocks noGrp="1"/>
          </p:cNvGraphicFramePr>
          <p:nvPr/>
        </p:nvGraphicFramePr>
        <p:xfrm>
          <a:off x="548640" y="1280160"/>
          <a:ext cx="11064238" cy="2267712"/>
        </p:xfrm>
        <a:graphic>
          <a:graphicData uri="http://schemas.openxmlformats.org/drawingml/2006/table">
            <a:tbl>
              <a:tblPr firstRow="1" bandRow="1">
                <a:tableStyleId>{5C22544A-7EE6-4342-B048-85BDC9FD1C3A}</a:tableStyleId>
              </a:tblPr>
              <a:tblGrid>
                <a:gridCol w="1606099"/>
                <a:gridCol w="3212198"/>
                <a:gridCol w="3212198"/>
                <a:gridCol w="3033743"/>
              </a:tblGrid>
              <a:tr h="566928">
                <a:tc>
                  <a:txBody>
                    <a:bodyPr wrap="square"/>
                    <a:lstStyle/>
                    <a:p/>
                  </a:txBody>
                  <a:tcPr marL="54864" marR="54864" marT="18288" marB="18288">
                    <a:solidFill>
                      <a:srgbClr val="1F3A5F"/>
                    </a:solidFill>
                  </a:tcPr>
                </a:tc>
                <a:tc>
                  <a:txBody>
                    <a:bodyPr wrap="square"/>
                    <a:lstStyle/>
                    <a:p>
                      <a:r>
                        <a:rPr sz="1100" b="1">
                          <a:solidFill>
                            <a:srgbClr val="FFFFFF"/>
                          </a:solidFill>
                          <a:latin typeface="Yu Gothic"/>
                        </a:rPr>
                        <a:t>1年目（2026.8〜）</a:t>
                      </a:r>
                    </a:p>
                  </a:txBody>
                  <a:tcPr marL="54864" marR="54864" marT="18288" marB="18288">
                    <a:solidFill>
                      <a:srgbClr val="1F3A5F"/>
                    </a:solidFill>
                  </a:tcPr>
                </a:tc>
                <a:tc>
                  <a:txBody>
                    <a:bodyPr wrap="square"/>
                    <a:lstStyle/>
                    <a:p>
                      <a:r>
                        <a:rPr sz="1100" b="1">
                          <a:solidFill>
                            <a:srgbClr val="FFFFFF"/>
                          </a:solidFill>
                          <a:latin typeface="Yu Gothic"/>
                        </a:rPr>
                        <a:t>2年目</a:t>
                      </a:r>
                    </a:p>
                  </a:txBody>
                  <a:tcPr marL="54864" marR="54864" marT="18288" marB="18288">
                    <a:solidFill>
                      <a:srgbClr val="1F3A5F"/>
                    </a:solidFill>
                  </a:tcPr>
                </a:tc>
                <a:tc>
                  <a:txBody>
                    <a:bodyPr wrap="square"/>
                    <a:lstStyle/>
                    <a:p>
                      <a:r>
                        <a:rPr sz="1100" b="1">
                          <a:solidFill>
                            <a:srgbClr val="FFFFFF"/>
                          </a:solidFill>
                          <a:latin typeface="Yu Gothic"/>
                        </a:rPr>
                        <a:t>3年目</a:t>
                      </a:r>
                    </a:p>
                  </a:txBody>
                  <a:tcPr marL="54864" marR="54864" marT="18288" marB="18288">
                    <a:solidFill>
                      <a:srgbClr val="1F3A5F"/>
                    </a:solidFill>
                  </a:tcPr>
                </a:tc>
              </a:tr>
              <a:tr h="566928">
                <a:tc>
                  <a:txBody>
                    <a:bodyPr wrap="square"/>
                    <a:lstStyle/>
                    <a:p>
                      <a:r>
                        <a:rPr sz="1100" b="0">
                          <a:solidFill>
                            <a:srgbClr val="222222"/>
                          </a:solidFill>
                          <a:latin typeface="Yu Gothic"/>
                        </a:rPr>
                        <a:t>位置づけ</a:t>
                      </a:r>
                    </a:p>
                  </a:txBody>
                  <a:tcPr marL="54864" marR="54864" marT="18288" marB="18288">
                    <a:solidFill>
                      <a:srgbClr val="FFFFFF"/>
                    </a:solidFill>
                  </a:tcPr>
                </a:tc>
                <a:tc>
                  <a:txBody>
                    <a:bodyPr wrap="square"/>
                    <a:lstStyle/>
                    <a:p>
                      <a:r>
                        <a:rPr sz="1100" b="0">
                          <a:solidFill>
                            <a:srgbClr val="222222"/>
                          </a:solidFill>
                          <a:latin typeface="Yu Gothic"/>
                        </a:rPr>
                        <a:t>仕込み。赤字は織り込み済み</a:t>
                      </a:r>
                    </a:p>
                  </a:txBody>
                  <a:tcPr marL="54864" marR="54864" marT="18288" marB="18288">
                    <a:solidFill>
                      <a:srgbClr val="FFFFFF"/>
                    </a:solidFill>
                  </a:tcPr>
                </a:tc>
                <a:tc>
                  <a:txBody>
                    <a:bodyPr wrap="square"/>
                    <a:lstStyle/>
                    <a:p>
                      <a:r>
                        <a:rPr sz="1100" b="1">
                          <a:solidFill>
                            <a:srgbClr val="222222"/>
                          </a:solidFill>
                          <a:latin typeface="Yu Gothic"/>
                        </a:rPr>
                        <a:t>小林の給料の自給</a:t>
                      </a:r>
                    </a:p>
                  </a:txBody>
                  <a:tcPr marL="54864" marR="54864" marT="18288" marB="18288">
                    <a:solidFill>
                      <a:srgbClr val="FFFFFF"/>
                    </a:solidFill>
                  </a:tcPr>
                </a:tc>
                <a:tc>
                  <a:txBody>
                    <a:bodyPr wrap="square"/>
                    <a:lstStyle/>
                    <a:p>
                      <a:r>
                        <a:rPr sz="1100" b="1">
                          <a:solidFill>
                            <a:srgbClr val="222222"/>
                          </a:solidFill>
                          <a:latin typeface="Yu Gothic"/>
                        </a:rPr>
                        <a:t>年収500万の原資</a:t>
                      </a:r>
                    </a:p>
                  </a:txBody>
                  <a:tcPr marL="54864" marR="54864" marT="18288" marB="18288">
                    <a:solidFill>
                      <a:srgbClr val="FFFFFF"/>
                    </a:solidFill>
                  </a:tcPr>
                </a:tc>
              </a:tr>
              <a:tr h="566928">
                <a:tc>
                  <a:txBody>
                    <a:bodyPr wrap="square"/>
                    <a:lstStyle/>
                    <a:p>
                      <a:r>
                        <a:rPr sz="1100" b="0">
                          <a:solidFill>
                            <a:srgbClr val="222222"/>
                          </a:solidFill>
                          <a:latin typeface="Yu Gothic"/>
                        </a:rPr>
                        <a:t>やること</a:t>
                      </a:r>
                    </a:p>
                  </a:txBody>
                  <a:tcPr marL="54864" marR="54864" marT="18288" marB="18288">
                    <a:solidFill>
                      <a:srgbClr val="F2F5F8"/>
                    </a:solidFill>
                  </a:tcPr>
                </a:tc>
                <a:tc>
                  <a:txBody>
                    <a:bodyPr wrap="square"/>
                    <a:lstStyle/>
                    <a:p>
                      <a:r>
                        <a:rPr sz="1100" b="0">
                          <a:solidFill>
                            <a:srgbClr val="222222"/>
                          </a:solidFill>
                          <a:latin typeface="Yu Gothic"/>
                        </a:rPr>
                        <a:t>自社実証＋事例2〜3件＋駆け込み認定支援</a:t>
                      </a:r>
                    </a:p>
                  </a:txBody>
                  <a:tcPr marL="54864" marR="54864" marT="18288" marB="18288">
                    <a:solidFill>
                      <a:srgbClr val="F2F5F8"/>
                    </a:solidFill>
                  </a:tcPr>
                </a:tc>
                <a:tc>
                  <a:txBody>
                    <a:bodyPr wrap="square"/>
                    <a:lstStyle/>
                    <a:p>
                      <a:r>
                        <a:rPr sz="1100" b="0">
                          <a:solidFill>
                            <a:srgbClr val="222222"/>
                          </a:solidFill>
                          <a:latin typeface="Yu Gothic"/>
                        </a:rPr>
                        <a:t>認定8件＋顧問12社＋継続3社</a:t>
                      </a:r>
                    </a:p>
                  </a:txBody>
                  <a:tcPr marL="54864" marR="54864" marT="18288" marB="18288">
                    <a:solidFill>
                      <a:srgbClr val="F2F5F8"/>
                    </a:solidFill>
                  </a:tcPr>
                </a:tc>
                <a:tc>
                  <a:txBody>
                    <a:bodyPr wrap="square"/>
                    <a:lstStyle/>
                    <a:p>
                      <a:r>
                        <a:rPr sz="1100" b="0">
                          <a:solidFill>
                            <a:srgbClr val="222222"/>
                          </a:solidFill>
                          <a:latin typeface="Yu Gothic"/>
                        </a:rPr>
                        <a:t>ストックの積層・更新の定型化</a:t>
                      </a:r>
                    </a:p>
                  </a:txBody>
                  <a:tcPr marL="54864" marR="54864" marT="18288" marB="18288">
                    <a:solidFill>
                      <a:srgbClr val="F2F5F8"/>
                    </a:solidFill>
                  </a:tcPr>
                </a:tc>
              </a:tr>
              <a:tr h="566928">
                <a:tc>
                  <a:txBody>
                    <a:bodyPr wrap="square"/>
                    <a:lstStyle/>
                    <a:p>
                      <a:r>
                        <a:rPr sz="1100" b="0">
                          <a:solidFill>
                            <a:srgbClr val="222222"/>
                          </a:solidFill>
                          <a:latin typeface="Yu Gothic"/>
                        </a:rPr>
                        <a:t>貢献利益</a:t>
                      </a:r>
                    </a:p>
                  </a:txBody>
                  <a:tcPr marL="54864" marR="54864" marT="18288" marB="18288">
                    <a:solidFill>
                      <a:srgbClr val="FFFFFF"/>
                    </a:solidFill>
                  </a:tcPr>
                </a:tc>
                <a:tc>
                  <a:txBody>
                    <a:bodyPr wrap="square"/>
                    <a:lstStyle/>
                    <a:p>
                      <a:r>
                        <a:rPr sz="1100" b="0">
                          <a:solidFill>
                            <a:srgbClr val="222222"/>
                          </a:solidFill>
                          <a:latin typeface="Yu Gothic"/>
                        </a:rPr>
                        <a:t>270〜350万</a:t>
                      </a:r>
                    </a:p>
                  </a:txBody>
                  <a:tcPr marL="54864" marR="54864" marT="18288" marB="18288">
                    <a:solidFill>
                      <a:srgbClr val="FFFFFF"/>
                    </a:solidFill>
                  </a:tcPr>
                </a:tc>
                <a:tc>
                  <a:txBody>
                    <a:bodyPr wrap="square"/>
                    <a:lstStyle/>
                    <a:p>
                      <a:r>
                        <a:rPr sz="1100" b="0">
                          <a:solidFill>
                            <a:srgbClr val="222222"/>
                          </a:solidFill>
                          <a:latin typeface="Yu Gothic"/>
                        </a:rPr>
                        <a:t>約646万（計画比72%でも自給ライン465万に到達）</a:t>
                      </a:r>
                    </a:p>
                  </a:txBody>
                  <a:tcPr marL="54864" marR="54864" marT="18288" marB="18288">
                    <a:solidFill>
                      <a:srgbClr val="FFFFFF"/>
                    </a:solidFill>
                  </a:tcPr>
                </a:tc>
                <a:tc>
                  <a:txBody>
                    <a:bodyPr wrap="square"/>
                    <a:lstStyle/>
                    <a:p>
                      <a:r>
                        <a:rPr sz="1100" b="0">
                          <a:solidFill>
                            <a:srgbClr val="222222"/>
                          </a:solidFill>
                          <a:latin typeface="Yu Gothic"/>
                        </a:rPr>
                        <a:t>650〜750万</a:t>
                      </a:r>
                    </a:p>
                  </a:txBody>
                  <a:tcPr marL="54864" marR="54864" marT="18288" marB="18288">
                    <a:solidFill>
                      <a:srgbClr val="FFFFFF"/>
                    </a:solidFill>
                  </a:tcPr>
                </a:tc>
              </a:tr>
            </a:tbl>
          </a:graphicData>
        </a:graphic>
      </p:graphicFrame>
      <p:sp>
        <p:nvSpPr>
          <p:cNvPr id="5" name="Rectangle 4"/>
          <p:cNvSpPr/>
          <p:nvPr/>
        </p:nvSpPr>
        <p:spPr>
          <a:xfrm>
            <a:off x="548640" y="3931920"/>
            <a:ext cx="11064240" cy="20116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069080"/>
            <a:ext cx="10515600" cy="1828800"/>
          </a:xfrm>
          <a:prstGeom prst="rect">
            <a:avLst/>
          </a:prstGeom>
          <a:noFill/>
        </p:spPr>
        <p:txBody>
          <a:bodyPr wrap="square" anchor="t">
            <a:spAutoFit/>
          </a:bodyPr>
          <a:lstStyle/>
          <a:p>
            <a:pPr algn="l"/>
            <a:r>
              <a:rPr sz="1400" b="1">
                <a:solidFill>
                  <a:srgbClr val="1F3A5F"/>
                </a:solidFill>
                <a:latin typeface="Yu Gothic"/>
              </a:rPr>
              <a:t>給与の考え方</a:t>
            </a:r>
          </a:p>
          <a:p>
            <a:pPr algn="l"/>
            <a:r>
              <a:rPr sz="1300" b="0">
                <a:solidFill>
                  <a:srgbClr val="222222"/>
                </a:solidFill>
                <a:latin typeface="Yu Gothic"/>
              </a:rPr>
              <a:t>基本給 月27万（年324万）は売上ゼロでも12ヶ月保証。歩合は粗利連動で全額その上乗せ（上限なし）。</a:t>
            </a:r>
          </a:p>
          <a:p>
            <a:pPr algn="l"/>
            <a:r>
              <a:rPr sz="1300" b="0">
                <a:solidFill>
                  <a:srgbClr val="222222"/>
                </a:solidFill>
                <a:latin typeface="Yu Gothic"/>
              </a:rPr>
              <a:t>軌道に乗れば基本給改定（月30万）。判断は「単月黒字2四半期連続」という数字の基準で——基準が明確な方がお互い気持ちよくやれる。</a:t>
            </a:r>
          </a:p>
          <a:p>
            <a:pPr algn="l"/>
            <a:r>
              <a:rPr sz="1300" b="1">
                <a:solidFill>
                  <a:srgbClr val="1F3A5F"/>
                </a:solidFill>
                <a:latin typeface="Yu Gothic"/>
              </a:rPr>
              <a:t>想定年収：1年目 約405万 → 2年目 約430万 → 3年目 約500万。歩合率の細部は納得いくまで二人で調整してから開始。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09  </a:t>
            </a:r>
            <a:r>
              <a:rPr sz="2200" b="1">
                <a:solidFill>
                  <a:srgbClr val="FFFFFF"/>
                </a:solidFill>
                <a:latin typeface="Yu Gothic"/>
              </a:rPr>
              <a:t>最悪の場合 ― 撤退ラインを先に決めておく</a:t>
            </a:r>
          </a:p>
        </p:txBody>
      </p:sp>
      <p:sp>
        <p:nvSpPr>
          <p:cNvPr id="4" name="TextBox 3"/>
          <p:cNvSpPr txBox="1"/>
          <p:nvPr/>
        </p:nvSpPr>
        <p:spPr>
          <a:xfrm>
            <a:off x="502920" y="896112"/>
            <a:ext cx="11247120" cy="365760"/>
          </a:xfrm>
          <a:prstGeom prst="rect">
            <a:avLst/>
          </a:prstGeom>
          <a:noFill/>
        </p:spPr>
        <p:txBody>
          <a:bodyPr wrap="square" anchor="t">
            <a:spAutoFit/>
          </a:bodyPr>
          <a:lstStyle/>
          <a:p>
            <a:pPr algn="l"/>
            <a:r>
              <a:rPr sz="1200" b="0">
                <a:solidFill>
                  <a:srgbClr val="666666"/>
                </a:solidFill>
                <a:latin typeface="Yu Gothic"/>
              </a:rPr>
              <a:t>撤退ラインは「諦めの基準」ではなく「安心して挑戦するための保険」。ここを事前に共有しておく</a:t>
            </a:r>
          </a:p>
        </p:txBody>
      </p:sp>
      <p:graphicFrame>
        <p:nvGraphicFramePr>
          <p:cNvPr id="5" name="Table 4"/>
          <p:cNvGraphicFramePr>
            <a:graphicFrameLocks noGrp="1"/>
          </p:cNvGraphicFramePr>
          <p:nvPr/>
        </p:nvGraphicFramePr>
        <p:xfrm>
          <a:off x="548640" y="1417320"/>
          <a:ext cx="11064237" cy="3840480"/>
        </p:xfrm>
        <a:graphic>
          <a:graphicData uri="http://schemas.openxmlformats.org/drawingml/2006/table">
            <a:tbl>
              <a:tblPr firstRow="1" bandRow="1">
                <a:tableStyleId>{5C22544A-7EE6-4342-B048-85BDC9FD1C3A}</a:tableStyleId>
              </a:tblPr>
              <a:tblGrid>
                <a:gridCol w="1554479"/>
                <a:gridCol w="4754879"/>
                <a:gridCol w="4754879"/>
              </a:tblGrid>
              <a:tr h="960120">
                <a:tc>
                  <a:txBody>
                    <a:bodyPr wrap="square"/>
                    <a:lstStyle/>
                    <a:p>
                      <a:r>
                        <a:rPr sz="1100" b="1">
                          <a:solidFill>
                            <a:srgbClr val="FFFFFF"/>
                          </a:solidFill>
                          <a:latin typeface="Yu Gothic"/>
                        </a:rPr>
                        <a:t>段階</a:t>
                      </a:r>
                    </a:p>
                  </a:txBody>
                  <a:tcPr marL="54864" marR="54864" marT="18288" marB="18288">
                    <a:solidFill>
                      <a:srgbClr val="1F3A5F"/>
                    </a:solidFill>
                  </a:tcPr>
                </a:tc>
                <a:tc>
                  <a:txBody>
                    <a:bodyPr wrap="square"/>
                    <a:lstStyle/>
                    <a:p>
                      <a:r>
                        <a:rPr sz="1100" b="1">
                          <a:solidFill>
                            <a:srgbClr val="FFFFFF"/>
                          </a:solidFill>
                          <a:latin typeface="Yu Gothic"/>
                        </a:rPr>
                        <a:t>発動条件（数字で判定）</a:t>
                      </a:r>
                    </a:p>
                  </a:txBody>
                  <a:tcPr marL="54864" marR="54864" marT="18288" marB="18288">
                    <a:solidFill>
                      <a:srgbClr val="1F3A5F"/>
                    </a:solidFill>
                  </a:tcPr>
                </a:tc>
                <a:tc>
                  <a:txBody>
                    <a:bodyPr wrap="square"/>
                    <a:lstStyle/>
                    <a:p>
                      <a:r>
                        <a:rPr sz="1100" b="1">
                          <a:solidFill>
                            <a:srgbClr val="FFFFFF"/>
                          </a:solidFill>
                          <a:latin typeface="Yu Gothic"/>
                        </a:rPr>
                        <a:t>やること</a:t>
                      </a:r>
                    </a:p>
                  </a:txBody>
                  <a:tcPr marL="54864" marR="54864" marT="18288" marB="18288">
                    <a:solidFill>
                      <a:srgbClr val="1F3A5F"/>
                    </a:solidFill>
                  </a:tcPr>
                </a:tc>
              </a:tr>
              <a:tr h="960120">
                <a:tc>
                  <a:txBody>
                    <a:bodyPr wrap="square"/>
                    <a:lstStyle/>
                    <a:p>
                      <a:r>
                        <a:rPr sz="1000" b="0">
                          <a:solidFill>
                            <a:srgbClr val="222222"/>
                          </a:solidFill>
                          <a:latin typeface="Yu Gothic"/>
                        </a:rPr>
                        <a:t>【黄】軌道修正</a:t>
                      </a:r>
                    </a:p>
                  </a:txBody>
                  <a:tcPr marL="54864" marR="54864" marT="18288" marB="18288">
                    <a:solidFill>
                      <a:srgbClr val="FFFFFF"/>
                    </a:solidFill>
                  </a:tcPr>
                </a:tc>
                <a:tc>
                  <a:txBody>
                    <a:bodyPr wrap="square"/>
                    <a:lstStyle/>
                    <a:p>
                      <a:r>
                        <a:rPr sz="1000" b="0">
                          <a:solidFill>
                            <a:srgbClr val="222222"/>
                          </a:solidFill>
                          <a:latin typeface="Yu Gothic"/>
                        </a:rPr>
                        <a:t>・開始3ヶ月で体験・測定の実施が5件未満
・パイロット企業の内諾がゼロ</a:t>
                      </a:r>
                    </a:p>
                  </a:txBody>
                  <a:tcPr marL="54864" marR="54864" marT="18288" marB="18288">
                    <a:solidFill>
                      <a:srgbClr val="FFFFFF"/>
                    </a:solidFill>
                  </a:tcPr>
                </a:tc>
                <a:tc>
                  <a:txBody>
                    <a:bodyPr wrap="square"/>
                    <a:lstStyle/>
                    <a:p>
                      <a:r>
                        <a:rPr sz="1000" b="0">
                          <a:solidFill>
                            <a:srgbClr val="222222"/>
                          </a:solidFill>
                          <a:latin typeface="Yu Gothic"/>
                        </a:rPr>
                        <a:t>商品・価格・営業先を見直す。責めるためではなく、早く手を打つための警報。月次面談で一緒に原因分析</a:t>
                      </a:r>
                    </a:p>
                  </a:txBody>
                  <a:tcPr marL="54864" marR="54864" marT="18288" marB="18288">
                    <a:solidFill>
                      <a:srgbClr val="FFFFFF"/>
                    </a:solidFill>
                  </a:tcPr>
                </a:tc>
              </a:tr>
              <a:tr h="960120">
                <a:tc>
                  <a:txBody>
                    <a:bodyPr wrap="square"/>
                    <a:lstStyle/>
                    <a:p>
                      <a:r>
                        <a:rPr sz="1000" b="0">
                          <a:solidFill>
                            <a:srgbClr val="222222"/>
                          </a:solidFill>
                          <a:latin typeface="Yu Gothic"/>
                        </a:rPr>
                        <a:t>【橙】縮小</a:t>
                      </a:r>
                    </a:p>
                  </a:txBody>
                  <a:tcPr marL="54864" marR="54864" marT="18288" marB="18288">
                    <a:solidFill>
                      <a:srgbClr val="F2F5F8"/>
                    </a:solidFill>
                  </a:tcPr>
                </a:tc>
                <a:tc>
                  <a:txBody>
                    <a:bodyPr wrap="square"/>
                    <a:lstStyle/>
                    <a:p>
                      <a:r>
                        <a:rPr sz="1000" b="0">
                          <a:solidFill>
                            <a:srgbClr val="222222"/>
                          </a:solidFill>
                          <a:latin typeface="Yu Gothic"/>
                        </a:rPr>
                        <a:t>・6ヶ月（2027年1月）で有償契約ゼロ、累計売上100万円未満
・セミナーの有償化がゼロ（全て無料勢に流れている）
・保険再登録が半年経っても進んでいない</a:t>
                      </a:r>
                    </a:p>
                  </a:txBody>
                  <a:tcPr marL="54864" marR="54864" marT="18288" marB="18288">
                    <a:solidFill>
                      <a:srgbClr val="F2F5F8"/>
                    </a:solidFill>
                  </a:tcPr>
                </a:tc>
                <a:tc>
                  <a:txBody>
                    <a:bodyPr wrap="square"/>
                    <a:lstStyle/>
                    <a:p>
                      <a:r>
                        <a:rPr sz="1000" b="0">
                          <a:solidFill>
                            <a:srgbClr val="222222"/>
                          </a:solidFill>
                          <a:latin typeface="Yu Gothic"/>
                        </a:rPr>
                        <a:t>新規開拓を一旦止め、既存客と自社実証に集中。商品を売れているものだけに絞る。小林の担当範囲を再設計</a:t>
                      </a:r>
                    </a:p>
                  </a:txBody>
                  <a:tcPr marL="54864" marR="54864" marT="18288" marB="18288">
                    <a:solidFill>
                      <a:srgbClr val="F2F5F8"/>
                    </a:solidFill>
                  </a:tcPr>
                </a:tc>
              </a:tr>
              <a:tr h="960120">
                <a:tc>
                  <a:txBody>
                    <a:bodyPr wrap="square"/>
                    <a:lstStyle/>
                    <a:p>
                      <a:r>
                        <a:rPr sz="1000" b="0">
                          <a:solidFill>
                            <a:srgbClr val="222222"/>
                          </a:solidFill>
                          <a:latin typeface="Yu Gothic"/>
                        </a:rPr>
                        <a:t>【赤】撤退判断</a:t>
                      </a:r>
                    </a:p>
                  </a:txBody>
                  <a:tcPr marL="54864" marR="54864" marT="18288" marB="18288">
                    <a:solidFill>
                      <a:srgbClr val="FFFFFF"/>
                    </a:solidFill>
                  </a:tcPr>
                </a:tc>
                <a:tc>
                  <a:txBody>
                    <a:bodyPr wrap="square"/>
                    <a:lstStyle/>
                    <a:p>
                      <a:r>
                        <a:rPr sz="1000" b="0">
                          <a:solidFill>
                            <a:srgbClr val="222222"/>
                          </a:solidFill>
                          <a:latin typeface="Yu Gothic"/>
                        </a:rPr>
                        <a:t>・初年度末（2027年7月）売上150万円未満かつ翌年の見込みが枯渇
・サウナ・睡眠の継続課金（2回目以降）が初年度ゼロ
・2年連続で継続率90%割れ・顧問ストック8社未達
・小林の兼務過多で本体業務に支障、または健康を損なう</a:t>
                      </a:r>
                    </a:p>
                  </a:txBody>
                  <a:tcPr marL="54864" marR="54864" marT="18288" marB="18288">
                    <a:solidFill>
                      <a:srgbClr val="FFFFFF"/>
                    </a:solidFill>
                  </a:tcPr>
                </a:tc>
                <a:tc>
                  <a:txBody>
                    <a:bodyPr wrap="square"/>
                    <a:lstStyle/>
                    <a:p>
                      <a:r>
                        <a:rPr sz="1000" b="0">
                          <a:solidFill>
                            <a:srgbClr val="222222"/>
                          </a:solidFill>
                          <a:latin typeface="Yu Gothic"/>
                        </a:rPr>
                        <a:t>代表が撤退・凍結を判断する。小林一人の責任にはしない。判断材料の数字だけは正直に上げてほしい</a:t>
                      </a:r>
                    </a:p>
                  </a:txBody>
                  <a:tcPr marL="54864" marR="54864" marT="18288" marB="18288">
                    <a:solidFill>
                      <a:srgbClr val="FFFFFF"/>
                    </a:solidFill>
                  </a:tcPr>
                </a:tc>
              </a:tr>
            </a:tbl>
          </a:graphicData>
        </a:graphic>
      </p:graphicFrame>
      <p:sp>
        <p:nvSpPr>
          <p:cNvPr id="6" name="Rectangle 5"/>
          <p:cNvSpPr/>
          <p:nvPr/>
        </p:nvSpPr>
        <p:spPr>
          <a:xfrm>
            <a:off x="548640" y="5166360"/>
            <a:ext cx="11064240" cy="1188720"/>
          </a:xfrm>
          <a:prstGeom prst="rect">
            <a:avLst/>
          </a:prstGeom>
          <a:solidFill>
            <a:srgbClr val="E8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285232"/>
            <a:ext cx="10515600" cy="1005840"/>
          </a:xfrm>
          <a:prstGeom prst="rect">
            <a:avLst/>
          </a:prstGeom>
          <a:noFill/>
        </p:spPr>
        <p:txBody>
          <a:bodyPr wrap="square" anchor="t">
            <a:spAutoFit/>
          </a:bodyPr>
          <a:lstStyle/>
          <a:p>
            <a:pPr algn="l"/>
            <a:r>
              <a:rPr sz="1300" b="1">
                <a:solidFill>
                  <a:srgbClr val="2E7D32"/>
                </a:solidFill>
                <a:latin typeface="Yu Gothic"/>
              </a:rPr>
              <a:t>撤退しても全損にはならない設計</a:t>
            </a:r>
          </a:p>
          <a:p>
            <a:pPr algn="l"/>
            <a:r>
              <a:rPr sz="1250" b="0">
                <a:solidFill>
                  <a:srgbClr val="222222"/>
                </a:solidFill>
                <a:latin typeface="Yu Gothic"/>
              </a:rPr>
              <a:t>サウナ法人契約・施工（仮眠室）・寝具物販は本業に吸収して継続できる。消えるのはコンサル部分だけ。だから思い切って挑戦してよい。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10  </a:t>
            </a:r>
            <a:r>
              <a:rPr sz="2200" b="1">
                <a:solidFill>
                  <a:srgbClr val="FFFFFF"/>
                </a:solidFill>
                <a:latin typeface="Yu Gothic"/>
              </a:rPr>
              <a:t>提出してもらった計画書 ― 一緒に直したい5点</a:t>
            </a:r>
          </a:p>
        </p:txBody>
      </p:sp>
      <p:sp>
        <p:nvSpPr>
          <p:cNvPr id="4" name="TextBox 3"/>
          <p:cNvSpPr txBox="1"/>
          <p:nvPr/>
        </p:nvSpPr>
        <p:spPr>
          <a:xfrm>
            <a:off x="502920" y="896112"/>
            <a:ext cx="11247120" cy="365760"/>
          </a:xfrm>
          <a:prstGeom prst="rect">
            <a:avLst/>
          </a:prstGeom>
          <a:noFill/>
        </p:spPr>
        <p:txBody>
          <a:bodyPr wrap="square" anchor="t">
            <a:spAutoFit/>
          </a:bodyPr>
          <a:lstStyle/>
          <a:p>
            <a:pPr algn="l"/>
            <a:r>
              <a:rPr sz="1200" b="0">
                <a:solidFill>
                  <a:srgbClr val="666666"/>
                </a:solidFill>
                <a:latin typeface="Yu Gothic"/>
              </a:rPr>
              <a:t>着眼点（サウナ×睡眠×健康経営）は良い。数字と裏付けを足せば通る計画になる</a:t>
            </a:r>
          </a:p>
        </p:txBody>
      </p:sp>
      <p:graphicFrame>
        <p:nvGraphicFramePr>
          <p:cNvPr id="5" name="Table 4"/>
          <p:cNvGraphicFramePr>
            <a:graphicFrameLocks noGrp="1"/>
          </p:cNvGraphicFramePr>
          <p:nvPr/>
        </p:nvGraphicFramePr>
        <p:xfrm>
          <a:off x="548640" y="1417320"/>
          <a:ext cx="11064240" cy="3401568"/>
        </p:xfrm>
        <a:graphic>
          <a:graphicData uri="http://schemas.openxmlformats.org/drawingml/2006/table">
            <a:tbl>
              <a:tblPr firstRow="1" bandRow="1">
                <a:tableStyleId>{5C22544A-7EE6-4342-B048-85BDC9FD1C3A}</a:tableStyleId>
              </a:tblPr>
              <a:tblGrid>
                <a:gridCol w="640080"/>
                <a:gridCol w="3291840"/>
                <a:gridCol w="7132320"/>
              </a:tblGrid>
              <a:tr h="566928">
                <a:tc>
                  <a:txBody>
                    <a:bodyPr wrap="square"/>
                    <a:lstStyle/>
                    <a:p>
                      <a:r>
                        <a:rPr sz="1100" b="1">
                          <a:solidFill>
                            <a:srgbClr val="FFFFFF"/>
                          </a:solidFill>
                          <a:latin typeface="Yu Gothic"/>
                        </a:rPr>
                        <a:t>#</a:t>
                      </a:r>
                    </a:p>
                  </a:txBody>
                  <a:tcPr marL="54864" marR="54864" marT="18288" marB="18288">
                    <a:solidFill>
                      <a:srgbClr val="1F3A5F"/>
                    </a:solidFill>
                  </a:tcPr>
                </a:tc>
                <a:tc>
                  <a:txBody>
                    <a:bodyPr wrap="square"/>
                    <a:lstStyle/>
                    <a:p>
                      <a:r>
                        <a:rPr sz="1100" b="1">
                          <a:solidFill>
                            <a:srgbClr val="FFFFFF"/>
                          </a:solidFill>
                          <a:latin typeface="Yu Gothic"/>
                        </a:rPr>
                        <a:t>直したい点</a:t>
                      </a:r>
                    </a:p>
                  </a:txBody>
                  <a:tcPr marL="54864" marR="54864" marT="18288" marB="18288">
                    <a:solidFill>
                      <a:srgbClr val="1F3A5F"/>
                    </a:solidFill>
                  </a:tcPr>
                </a:tc>
                <a:tc>
                  <a:txBody>
                    <a:bodyPr wrap="square"/>
                    <a:lstStyle/>
                    <a:p>
                      <a:r>
                        <a:rPr sz="1100" b="1">
                          <a:solidFill>
                            <a:srgbClr val="FFFFFF"/>
                          </a:solidFill>
                          <a:latin typeface="Yu Gothic"/>
                        </a:rPr>
                        <a:t>どう直すか</a:t>
                      </a:r>
                    </a:p>
                  </a:txBody>
                  <a:tcPr marL="54864" marR="54864" marT="18288" marB="18288">
                    <a:solidFill>
                      <a:srgbClr val="1F3A5F"/>
                    </a:solidFill>
                  </a:tcPr>
                </a:tc>
              </a:tr>
              <a:tr h="566928">
                <a:tc>
                  <a:txBody>
                    <a:bodyPr wrap="square"/>
                    <a:lstStyle/>
                    <a:p>
                      <a:r>
                        <a:rPr sz="1050" b="0">
                          <a:solidFill>
                            <a:srgbClr val="222222"/>
                          </a:solidFill>
                          <a:latin typeface="Yu Gothic"/>
                        </a:rPr>
                        <a:t>1</a:t>
                      </a:r>
                    </a:p>
                  </a:txBody>
                  <a:tcPr marL="54864" marR="54864" marT="18288" marB="18288">
                    <a:solidFill>
                      <a:srgbClr val="FFFFFF"/>
                    </a:solidFill>
                  </a:tcPr>
                </a:tc>
                <a:tc>
                  <a:txBody>
                    <a:bodyPr wrap="square"/>
                    <a:lstStyle/>
                    <a:p>
                      <a:r>
                        <a:rPr sz="1050" b="0">
                          <a:solidFill>
                            <a:srgbClr val="222222"/>
                          </a:solidFill>
                          <a:latin typeface="Yu Gothic"/>
                        </a:rPr>
                        <a:t>市場欄が「声をかけられる6社」</a:t>
                      </a:r>
                    </a:p>
                  </a:txBody>
                  <a:tcPr marL="54864" marR="54864" marT="18288" marB="18288">
                    <a:solidFill>
                      <a:srgbClr val="FFFFFF"/>
                    </a:solidFill>
                  </a:tcPr>
                </a:tc>
                <a:tc>
                  <a:txBody>
                    <a:bodyPr wrap="square"/>
                    <a:lstStyle/>
                    <a:p>
                      <a:r>
                        <a:rPr sz="1050" b="0">
                          <a:solidFill>
                            <a:srgbClr val="222222"/>
                          </a:solidFill>
                          <a:latin typeface="Yu Gothic"/>
                        </a:rPr>
                        <a:t>人脈の数と市場規模は別物。認定679社・宣言3,161社の実データに差し替え（修正版に反映済み）</a:t>
                      </a:r>
                    </a:p>
                  </a:txBody>
                  <a:tcPr marL="54864" marR="54864" marT="18288" marB="18288">
                    <a:solidFill>
                      <a:srgbClr val="FFFFFF"/>
                    </a:solidFill>
                  </a:tcPr>
                </a:tc>
              </a:tr>
              <a:tr h="566928">
                <a:tc>
                  <a:txBody>
                    <a:bodyPr wrap="square"/>
                    <a:lstStyle/>
                    <a:p>
                      <a:r>
                        <a:rPr sz="1050" b="0">
                          <a:solidFill>
                            <a:srgbClr val="222222"/>
                          </a:solidFill>
                          <a:latin typeface="Yu Gothic"/>
                        </a:rPr>
                        <a:t>2</a:t>
                      </a:r>
                    </a:p>
                  </a:txBody>
                  <a:tcPr marL="54864" marR="54864" marT="18288" marB="18288">
                    <a:solidFill>
                      <a:srgbClr val="F2F5F8"/>
                    </a:solidFill>
                  </a:tcPr>
                </a:tc>
                <a:tc>
                  <a:txBody>
                    <a:bodyPr wrap="square"/>
                    <a:lstStyle/>
                    <a:p>
                      <a:r>
                        <a:rPr sz="1050" b="0">
                          <a:solidFill>
                            <a:srgbClr val="222222"/>
                          </a:solidFill>
                          <a:latin typeface="Yu Gothic"/>
                        </a:rPr>
                        <a:t>売上1,000万の積算が合っていない</a:t>
                      </a:r>
                    </a:p>
                  </a:txBody>
                  <a:tcPr marL="54864" marR="54864" marT="18288" marB="18288">
                    <a:solidFill>
                      <a:srgbClr val="F2F5F8"/>
                    </a:solidFill>
                  </a:tcPr>
                </a:tc>
                <a:tc>
                  <a:txBody>
                    <a:bodyPr wrap="square"/>
                    <a:lstStyle/>
                    <a:p>
                      <a:r>
                        <a:rPr sz="1050" b="0">
                          <a:solidFill>
                            <a:srgbClr val="222222"/>
                          </a:solidFill>
                          <a:latin typeface="Yu Gothic"/>
                        </a:rPr>
                        <a:t>単価×件数の合計は772万。セミナー20万/回も実勢（5〜10万）より高め。数字が合わないと内容が良くても損をする</a:t>
                      </a:r>
                    </a:p>
                  </a:txBody>
                  <a:tcPr marL="54864" marR="54864" marT="18288" marB="18288">
                    <a:solidFill>
                      <a:srgbClr val="F2F5F8"/>
                    </a:solidFill>
                  </a:tcPr>
                </a:tc>
              </a:tr>
              <a:tr h="566928">
                <a:tc>
                  <a:txBody>
                    <a:bodyPr wrap="square"/>
                    <a:lstStyle/>
                    <a:p>
                      <a:r>
                        <a:rPr sz="1050" b="0">
                          <a:solidFill>
                            <a:srgbClr val="222222"/>
                          </a:solidFill>
                          <a:latin typeface="Yu Gothic"/>
                        </a:rPr>
                        <a:t>3</a:t>
                      </a:r>
                    </a:p>
                  </a:txBody>
                  <a:tcPr marL="54864" marR="54864" marT="18288" marB="18288">
                    <a:solidFill>
                      <a:srgbClr val="FFFFFF"/>
                    </a:solidFill>
                  </a:tcPr>
                </a:tc>
                <a:tc>
                  <a:txBody>
                    <a:bodyPr wrap="square"/>
                    <a:lstStyle/>
                    <a:p>
                      <a:r>
                        <a:rPr sz="1050" b="0">
                          <a:solidFill>
                            <a:srgbClr val="222222"/>
                          </a:solidFill>
                          <a:latin typeface="Yu Gothic"/>
                        </a:rPr>
                        <a:t>保険の扱い</a:t>
                      </a:r>
                    </a:p>
                  </a:txBody>
                  <a:tcPr marL="54864" marR="54864" marT="18288" marB="18288">
                    <a:solidFill>
                      <a:srgbClr val="FFFFFF"/>
                    </a:solidFill>
                  </a:tcPr>
                </a:tc>
                <a:tc>
                  <a:txBody>
                    <a:bodyPr wrap="square"/>
                    <a:lstStyle/>
                    <a:p>
                      <a:r>
                        <a:rPr sz="1050" b="0">
                          <a:solidFill>
                            <a:srgbClr val="222222"/>
                          </a:solidFill>
                          <a:latin typeface="Yu Gothic"/>
                        </a:rPr>
                        <a:t>募集人登録は退職で失効。再登録完了まで扱えないので、初年度の保険収益はゼロで組む方が誠実で強い</a:t>
                      </a:r>
                    </a:p>
                  </a:txBody>
                  <a:tcPr marL="54864" marR="54864" marT="18288" marB="18288">
                    <a:solidFill>
                      <a:srgbClr val="FFFFFF"/>
                    </a:solidFill>
                  </a:tcPr>
                </a:tc>
              </a:tr>
              <a:tr h="566928">
                <a:tc>
                  <a:txBody>
                    <a:bodyPr wrap="square"/>
                    <a:lstStyle/>
                    <a:p>
                      <a:r>
                        <a:rPr sz="1050" b="0">
                          <a:solidFill>
                            <a:srgbClr val="222222"/>
                          </a:solidFill>
                          <a:latin typeface="Yu Gothic"/>
                        </a:rPr>
                        <a:t>4</a:t>
                      </a:r>
                    </a:p>
                  </a:txBody>
                  <a:tcPr marL="54864" marR="54864" marT="18288" marB="18288">
                    <a:solidFill>
                      <a:srgbClr val="F2F5F8"/>
                    </a:solidFill>
                  </a:tcPr>
                </a:tc>
                <a:tc>
                  <a:txBody>
                    <a:bodyPr wrap="square"/>
                    <a:lstStyle/>
                    <a:p>
                      <a:r>
                        <a:rPr sz="1050" b="0">
                          <a:solidFill>
                            <a:srgbClr val="222222"/>
                          </a:solidFill>
                          <a:latin typeface="Yu Gothic"/>
                        </a:rPr>
                        <a:t>自分の経歴が強みに入っていない</a:t>
                      </a:r>
                    </a:p>
                  </a:txBody>
                  <a:tcPr marL="54864" marR="54864" marT="18288" marB="18288">
                    <a:solidFill>
                      <a:srgbClr val="F2F5F8"/>
                    </a:solidFill>
                  </a:tcPr>
                </a:tc>
                <a:tc>
                  <a:txBody>
                    <a:bodyPr wrap="square"/>
                    <a:lstStyle/>
                    <a:p>
                      <a:r>
                        <a:rPr sz="1050" b="0">
                          <a:solidFill>
                            <a:srgbClr val="222222"/>
                          </a:solidFill>
                          <a:latin typeface="Yu Gothic"/>
                        </a:rPr>
                        <a:t>元アクサでの健康経営支援の実務経験は最大の武器。一番上に書く</a:t>
                      </a:r>
                    </a:p>
                  </a:txBody>
                  <a:tcPr marL="54864" marR="54864" marT="18288" marB="18288">
                    <a:solidFill>
                      <a:srgbClr val="F2F5F8"/>
                    </a:solidFill>
                  </a:tcPr>
                </a:tc>
              </a:tr>
              <a:tr h="566928">
                <a:tc>
                  <a:txBody>
                    <a:bodyPr wrap="square"/>
                    <a:lstStyle/>
                    <a:p>
                      <a:r>
                        <a:rPr sz="1050" b="0">
                          <a:solidFill>
                            <a:srgbClr val="222222"/>
                          </a:solidFill>
                          <a:latin typeface="Yu Gothic"/>
                        </a:rPr>
                        <a:t>5</a:t>
                      </a:r>
                    </a:p>
                  </a:txBody>
                  <a:tcPr marL="54864" marR="54864" marT="18288" marB="18288">
                    <a:solidFill>
                      <a:srgbClr val="FFFFFF"/>
                    </a:solidFill>
                  </a:tcPr>
                </a:tc>
                <a:tc>
                  <a:txBody>
                    <a:bodyPr wrap="square"/>
                    <a:lstStyle/>
                    <a:p>
                      <a:r>
                        <a:rPr sz="1050" b="0">
                          <a:solidFill>
                            <a:srgbClr val="222222"/>
                          </a:solidFill>
                          <a:latin typeface="Yu Gothic"/>
                        </a:rPr>
                        <a:t>11月以降のスケジュールが空欄</a:t>
                      </a:r>
                    </a:p>
                  </a:txBody>
                  <a:tcPr marL="54864" marR="54864" marT="18288" marB="18288">
                    <a:solidFill>
                      <a:srgbClr val="FFFFFF"/>
                    </a:solidFill>
                  </a:tcPr>
                </a:tc>
                <a:tc>
                  <a:txBody>
                    <a:bodyPr wrap="square"/>
                    <a:lstStyle/>
                    <a:p>
                      <a:r>
                        <a:rPr sz="1050" b="0">
                          <a:solidFill>
                            <a:srgbClr val="222222"/>
                          </a:solidFill>
                          <a:latin typeface="Yu Gothic"/>
                        </a:rPr>
                        <a:t>半年先まで月次で埋める（修正版に叩き台あり）</a:t>
                      </a:r>
                    </a:p>
                  </a:txBody>
                  <a:tcPr marL="54864" marR="54864" marT="18288" marB="18288">
                    <a:solidFill>
                      <a:srgbClr val="FFFFFF"/>
                    </a:solidFill>
                  </a:tcPr>
                </a:tc>
              </a:tr>
            </a:tbl>
          </a:graphicData>
        </a:graphic>
      </p:graphicFrame>
      <p:sp>
        <p:nvSpPr>
          <p:cNvPr id="6" name="TextBox 5"/>
          <p:cNvSpPr txBox="1"/>
          <p:nvPr/>
        </p:nvSpPr>
        <p:spPr>
          <a:xfrm>
            <a:off x="548640" y="5212080"/>
            <a:ext cx="11064240" cy="914400"/>
          </a:xfrm>
          <a:prstGeom prst="rect">
            <a:avLst/>
          </a:prstGeom>
          <a:noFill/>
        </p:spPr>
        <p:txBody>
          <a:bodyPr wrap="square" anchor="t">
            <a:spAutoFit/>
          </a:bodyPr>
          <a:lstStyle/>
          <a:p>
            <a:pPr algn="l"/>
            <a:r>
              <a:rPr sz="1400" b="1">
                <a:solidFill>
                  <a:srgbClr val="1F3A5F"/>
                </a:solidFill>
                <a:latin typeface="Yu Gothic"/>
              </a:rPr>
              <a:t>修正版はこちらで用意済み。中身を自分の言葉で説明できるところまで消化してもらえれば十分。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640080"/>
          </a:xfrm>
          <a:prstGeom prst="rect">
            <a:avLst/>
          </a:prstGeom>
          <a:noFill/>
        </p:spPr>
        <p:txBody>
          <a:bodyPr wrap="square" anchor="ctr">
            <a:spAutoFit/>
          </a:bodyPr>
          <a:lstStyle/>
          <a:p>
            <a:pPr algn="l"/>
            <a:r>
              <a:rPr sz="2200" b="1">
                <a:solidFill>
                  <a:srgbClr val="9FC5A0"/>
                </a:solidFill>
                <a:latin typeface="Yu Gothic"/>
              </a:rPr>
              <a:t>11  </a:t>
            </a:r>
            <a:r>
              <a:rPr sz="2200" b="1">
                <a:solidFill>
                  <a:srgbClr val="FFFFFF"/>
                </a:solidFill>
                <a:latin typeface="Yu Gothic"/>
              </a:rPr>
              <a:t>役割分担 ― 会社がやること／任せること／一緒に決めること</a:t>
            </a:r>
          </a:p>
        </p:txBody>
      </p:sp>
      <p:graphicFrame>
        <p:nvGraphicFramePr>
          <p:cNvPr id="4" name="Table 3"/>
          <p:cNvGraphicFramePr>
            <a:graphicFrameLocks noGrp="1"/>
          </p:cNvGraphicFramePr>
          <p:nvPr/>
        </p:nvGraphicFramePr>
        <p:xfrm>
          <a:off x="548640" y="1280160"/>
          <a:ext cx="3657600" cy="2834640"/>
        </p:xfrm>
        <a:graphic>
          <a:graphicData uri="http://schemas.openxmlformats.org/drawingml/2006/table">
            <a:tbl>
              <a:tblPr firstRow="1" bandRow="1">
                <a:tableStyleId>{5C22544A-7EE6-4342-B048-85BDC9FD1C3A}</a:tableStyleId>
              </a:tblPr>
              <a:tblGrid>
                <a:gridCol w="3657600"/>
              </a:tblGrid>
              <a:tr h="566928">
                <a:tc>
                  <a:txBody>
                    <a:bodyPr wrap="square"/>
                    <a:lstStyle/>
                    <a:p>
                      <a:r>
                        <a:rPr sz="1100" b="1">
                          <a:solidFill>
                            <a:srgbClr val="FFFFFF"/>
                          </a:solidFill>
                          <a:latin typeface="Yu Gothic"/>
                        </a:rPr>
                        <a:t>会社がやること</a:t>
                      </a:r>
                    </a:p>
                  </a:txBody>
                  <a:tcPr marL="54864" marR="54864" marT="18288" marB="18288">
                    <a:solidFill>
                      <a:srgbClr val="1F3A5F"/>
                    </a:solidFill>
                  </a:tcPr>
                </a:tc>
              </a:tr>
              <a:tr h="566928">
                <a:tc>
                  <a:txBody>
                    <a:bodyPr wrap="square"/>
                    <a:lstStyle/>
                    <a:p>
                      <a:r>
                        <a:rPr sz="1050" b="0">
                          <a:solidFill>
                            <a:srgbClr val="222222"/>
                          </a:solidFill>
                          <a:latin typeface="Yu Gothic"/>
                        </a:rPr>
                        <a:t>基本給の12ヶ月保証と1〜2年目の赤字の引き受け</a:t>
                      </a:r>
                    </a:p>
                  </a:txBody>
                  <a:tcPr marL="54864" marR="54864" marT="18288" marB="18288">
                    <a:solidFill>
                      <a:srgbClr val="FFFFFF"/>
                    </a:solidFill>
                  </a:tcPr>
                </a:tc>
              </a:tr>
              <a:tr h="566928">
                <a:tc>
                  <a:txBody>
                    <a:bodyPr wrap="square"/>
                    <a:lstStyle/>
                    <a:p>
                      <a:r>
                        <a:rPr sz="1050" b="0">
                          <a:solidFill>
                            <a:srgbClr val="222222"/>
                          </a:solidFill>
                          <a:latin typeface="Yu Gothic"/>
                        </a:rPr>
                        <a:t>サウナ・施工部隊・既存顧客・代表人脈の提供</a:t>
                      </a:r>
                    </a:p>
                  </a:txBody>
                  <a:tcPr marL="54864" marR="54864" marT="18288" marB="18288">
                    <a:solidFill>
                      <a:srgbClr val="F2F5F8"/>
                    </a:solidFill>
                  </a:tcPr>
                </a:tc>
              </a:tr>
              <a:tr h="566928">
                <a:tc>
                  <a:txBody>
                    <a:bodyPr wrap="square"/>
                    <a:lstStyle/>
                    <a:p>
                      <a:r>
                        <a:rPr sz="1050" b="0">
                          <a:solidFill>
                            <a:srgbClr val="222222"/>
                          </a:solidFill>
                          <a:latin typeface="Yu Gothic"/>
                        </a:rPr>
                        <a:t>社労士・税理士・提携FPの確保</a:t>
                      </a:r>
                    </a:p>
                  </a:txBody>
                  <a:tcPr marL="54864" marR="54864" marT="18288" marB="18288">
                    <a:solidFill>
                      <a:srgbClr val="FFFFFF"/>
                    </a:solidFill>
                  </a:tcPr>
                </a:tc>
              </a:tr>
              <a:tr h="566928">
                <a:tc>
                  <a:txBody>
                    <a:bodyPr wrap="square"/>
                    <a:lstStyle/>
                    <a:p>
                      <a:r>
                        <a:rPr sz="1050" b="0">
                          <a:solidFill>
                            <a:srgbClr val="222222"/>
                          </a:solidFill>
                          <a:latin typeface="Yu Gothic"/>
                        </a:rPr>
                        <a:t>撤退の最終判断と責任</a:t>
                      </a:r>
                    </a:p>
                  </a:txBody>
                  <a:tcPr marL="54864" marR="54864" marT="18288" marB="18288">
                    <a:solidFill>
                      <a:srgbClr val="F2F5F8"/>
                    </a:solidFill>
                  </a:tcPr>
                </a:tc>
              </a:tr>
            </a:tbl>
          </a:graphicData>
        </a:graphic>
      </p:graphicFrame>
      <p:graphicFrame>
        <p:nvGraphicFramePr>
          <p:cNvPr id="5" name="Table 4"/>
          <p:cNvGraphicFramePr>
            <a:graphicFrameLocks noGrp="1"/>
          </p:cNvGraphicFramePr>
          <p:nvPr/>
        </p:nvGraphicFramePr>
        <p:xfrm>
          <a:off x="4434840" y="1280160"/>
          <a:ext cx="3657600" cy="2834640"/>
        </p:xfrm>
        <a:graphic>
          <a:graphicData uri="http://schemas.openxmlformats.org/drawingml/2006/table">
            <a:tbl>
              <a:tblPr firstRow="1" bandRow="1">
                <a:tableStyleId>{5C22544A-7EE6-4342-B048-85BDC9FD1C3A}</a:tableStyleId>
              </a:tblPr>
              <a:tblGrid>
                <a:gridCol w="3657600"/>
              </a:tblGrid>
              <a:tr h="566928">
                <a:tc>
                  <a:txBody>
                    <a:bodyPr wrap="square"/>
                    <a:lstStyle/>
                    <a:p>
                      <a:r>
                        <a:rPr sz="1100" b="1">
                          <a:solidFill>
                            <a:srgbClr val="FFFFFF"/>
                          </a:solidFill>
                          <a:latin typeface="Yu Gothic"/>
                        </a:rPr>
                        <a:t>小林さんに任せること</a:t>
                      </a:r>
                    </a:p>
                  </a:txBody>
                  <a:tcPr marL="54864" marR="54864" marT="18288" marB="18288">
                    <a:solidFill>
                      <a:srgbClr val="1F3A5F"/>
                    </a:solidFill>
                  </a:tcPr>
                </a:tc>
              </a:tr>
              <a:tr h="566928">
                <a:tc>
                  <a:txBody>
                    <a:bodyPr wrap="square"/>
                    <a:lstStyle/>
                    <a:p>
                      <a:r>
                        <a:rPr sz="1050" b="0">
                          <a:solidFill>
                            <a:srgbClr val="222222"/>
                          </a:solidFill>
                          <a:latin typeface="Yu Gothic"/>
                        </a:rPr>
                        <a:t>セミナーの中身・資格の活かし方</a:t>
                      </a:r>
                    </a:p>
                  </a:txBody>
                  <a:tcPr marL="54864" marR="54864" marT="18288" marB="18288">
                    <a:solidFill>
                      <a:srgbClr val="FFFFFF"/>
                    </a:solidFill>
                  </a:tcPr>
                </a:tc>
              </a:tr>
              <a:tr h="566928">
                <a:tc>
                  <a:txBody>
                    <a:bodyPr wrap="square"/>
                    <a:lstStyle/>
                    <a:p>
                      <a:r>
                        <a:rPr sz="1050" b="0">
                          <a:solidFill>
                            <a:srgbClr val="222222"/>
                          </a:solidFill>
                          <a:latin typeface="Yu Gothic"/>
                        </a:rPr>
                        <a:t>SNSの発信内容とトーン</a:t>
                      </a:r>
                    </a:p>
                  </a:txBody>
                  <a:tcPr marL="54864" marR="54864" marT="18288" marB="18288">
                    <a:solidFill>
                      <a:srgbClr val="F2F5F8"/>
                    </a:solidFill>
                  </a:tcPr>
                </a:tc>
              </a:tr>
              <a:tr h="566928">
                <a:tc>
                  <a:txBody>
                    <a:bodyPr wrap="square"/>
                    <a:lstStyle/>
                    <a:p>
                      <a:r>
                        <a:rPr sz="1050" b="0">
                          <a:solidFill>
                            <a:srgbClr val="222222"/>
                          </a:solidFill>
                          <a:latin typeface="Yu Gothic"/>
                        </a:rPr>
                        <a:t>営業の組み立て・訪問順・ペース</a:t>
                      </a:r>
                    </a:p>
                  </a:txBody>
                  <a:tcPr marL="54864" marR="54864" marT="18288" marB="18288">
                    <a:solidFill>
                      <a:srgbClr val="FFFFFF"/>
                    </a:solidFill>
                  </a:tcPr>
                </a:tc>
              </a:tr>
              <a:tr h="566928">
                <a:tc>
                  <a:txBody>
                    <a:bodyPr wrap="square"/>
                    <a:lstStyle/>
                    <a:p>
                      <a:r>
                        <a:rPr sz="1050" b="0">
                          <a:solidFill>
                            <a:srgbClr val="222222"/>
                          </a:solidFill>
                          <a:latin typeface="Yu Gothic"/>
                        </a:rPr>
                        <a:t>新商品のアイデア・発案（値付け前に共有）</a:t>
                      </a:r>
                    </a:p>
                  </a:txBody>
                  <a:tcPr marL="54864" marR="54864" marT="18288" marB="18288">
                    <a:solidFill>
                      <a:srgbClr val="F2F5F8"/>
                    </a:solidFill>
                  </a:tcPr>
                </a:tc>
              </a:tr>
            </a:tbl>
          </a:graphicData>
        </a:graphic>
      </p:graphicFrame>
      <p:graphicFrame>
        <p:nvGraphicFramePr>
          <p:cNvPr id="6" name="Table 5"/>
          <p:cNvGraphicFramePr>
            <a:graphicFrameLocks noGrp="1"/>
          </p:cNvGraphicFramePr>
          <p:nvPr/>
        </p:nvGraphicFramePr>
        <p:xfrm>
          <a:off x="8321040" y="1280160"/>
          <a:ext cx="3291840" cy="2834640"/>
        </p:xfrm>
        <a:graphic>
          <a:graphicData uri="http://schemas.openxmlformats.org/drawingml/2006/table">
            <a:tbl>
              <a:tblPr firstRow="1" bandRow="1">
                <a:tableStyleId>{5C22544A-7EE6-4342-B048-85BDC9FD1C3A}</a:tableStyleId>
              </a:tblPr>
              <a:tblGrid>
                <a:gridCol w="3291840"/>
              </a:tblGrid>
              <a:tr h="566928">
                <a:tc>
                  <a:txBody>
                    <a:bodyPr wrap="square"/>
                    <a:lstStyle/>
                    <a:p>
                      <a:r>
                        <a:rPr sz="1100" b="1">
                          <a:solidFill>
                            <a:srgbClr val="FFFFFF"/>
                          </a:solidFill>
                          <a:latin typeface="Yu Gothic"/>
                        </a:rPr>
                        <a:t>二人で決めること</a:t>
                      </a:r>
                    </a:p>
                  </a:txBody>
                  <a:tcPr marL="54864" marR="54864" marT="18288" marB="18288">
                    <a:solidFill>
                      <a:srgbClr val="1F3A5F"/>
                    </a:solidFill>
                  </a:tcPr>
                </a:tc>
              </a:tr>
              <a:tr h="566928">
                <a:tc>
                  <a:txBody>
                    <a:bodyPr wrap="square"/>
                    <a:lstStyle/>
                    <a:p>
                      <a:r>
                        <a:rPr sz="1050" b="0">
                          <a:solidFill>
                            <a:srgbClr val="222222"/>
                          </a:solidFill>
                          <a:latin typeface="Yu Gothic"/>
                        </a:rPr>
                        <a:t>各商品の最終価格（8月上旬）</a:t>
                      </a:r>
                    </a:p>
                  </a:txBody>
                  <a:tcPr marL="54864" marR="54864" marT="18288" marB="18288">
                    <a:solidFill>
                      <a:srgbClr val="FFFFFF"/>
                    </a:solidFill>
                  </a:tcPr>
                </a:tc>
              </a:tr>
              <a:tr h="566928">
                <a:tc>
                  <a:txBody>
                    <a:bodyPr wrap="square"/>
                    <a:lstStyle/>
                    <a:p>
                      <a:r>
                        <a:rPr sz="1050" b="0">
                          <a:solidFill>
                            <a:srgbClr val="222222"/>
                          </a:solidFill>
                          <a:latin typeface="Yu Gothic"/>
                        </a:rPr>
                        <a:t>最初に声をかける10社</a:t>
                      </a:r>
                    </a:p>
                  </a:txBody>
                  <a:tcPr marL="54864" marR="54864" marT="18288" marB="18288">
                    <a:solidFill>
                      <a:srgbClr val="F2F5F8"/>
                    </a:solidFill>
                  </a:tcPr>
                </a:tc>
              </a:tr>
              <a:tr h="566928">
                <a:tc>
                  <a:txBody>
                    <a:bodyPr wrap="square"/>
                    <a:lstStyle/>
                    <a:p>
                      <a:r>
                        <a:rPr sz="1050" b="0">
                          <a:solidFill>
                            <a:srgbClr val="222222"/>
                          </a:solidFill>
                          <a:latin typeface="Yu Gothic"/>
                        </a:rPr>
                        <a:t>歩合率の最終合意（7月末）</a:t>
                      </a:r>
                    </a:p>
                  </a:txBody>
                  <a:tcPr marL="54864" marR="54864" marT="18288" marB="18288">
                    <a:solidFill>
                      <a:srgbClr val="FFFFFF"/>
                    </a:solidFill>
                  </a:tcPr>
                </a:tc>
              </a:tr>
              <a:tr h="566928">
                <a:tc>
                  <a:txBody>
                    <a:bodyPr wrap="square"/>
                    <a:lstStyle/>
                    <a:p>
                      <a:r>
                        <a:rPr sz="1050" b="0">
                          <a:solidFill>
                            <a:srgbClr val="222222"/>
                          </a:solidFill>
                          <a:latin typeface="Yu Gothic"/>
                        </a:rPr>
                        <a:t>自社実証のスケジュール</a:t>
                      </a:r>
                    </a:p>
                  </a:txBody>
                  <a:tcPr marL="54864" marR="54864" marT="18288" marB="18288">
                    <a:solidFill>
                      <a:srgbClr val="F2F5F8"/>
                    </a:solidFill>
                  </a:tcPr>
                </a:tc>
              </a:tr>
            </a:tbl>
          </a:graphicData>
        </a:graphic>
      </p:graphicFrame>
      <p:sp>
        <p:nvSpPr>
          <p:cNvPr id="7" name="Rectangle 6"/>
          <p:cNvSpPr/>
          <p:nvPr/>
        </p:nvSpPr>
        <p:spPr>
          <a:xfrm>
            <a:off x="548640" y="4572000"/>
            <a:ext cx="11064240" cy="14630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709160"/>
            <a:ext cx="10515600" cy="1280160"/>
          </a:xfrm>
          <a:prstGeom prst="rect">
            <a:avLst/>
          </a:prstGeom>
          <a:noFill/>
        </p:spPr>
        <p:txBody>
          <a:bodyPr wrap="square" anchor="t">
            <a:spAutoFit/>
          </a:bodyPr>
          <a:lstStyle/>
          <a:p>
            <a:pPr algn="l"/>
            <a:r>
              <a:rPr sz="1300" b="1">
                <a:solidFill>
                  <a:srgbClr val="1F3A5F"/>
                </a:solidFill>
                <a:latin typeface="Yu Gothic"/>
              </a:rPr>
              <a:t>お願いしたいこと（5つ）</a:t>
            </a:r>
          </a:p>
          <a:p>
            <a:pPr algn="l"/>
            <a:r>
              <a:rPr sz="1250" b="0">
                <a:solidFill>
                  <a:srgbClr val="222222"/>
                </a:solidFill>
                <a:latin typeface="Yu Gothic"/>
              </a:rPr>
              <a:t>①90日は事例づくり優先　②保険再登録を最優先　③月次で6つの数字を共有（うまくいかない月ほど早く）　④継続率90%を大事に　⑤できない約束はしない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731520"/>
          </a:xfrm>
          <a:prstGeom prst="rect">
            <a:avLst/>
          </a:prstGeom>
          <a:noFill/>
        </p:spPr>
        <p:txBody>
          <a:bodyPr wrap="square" anchor="t">
            <a:spAutoFit/>
          </a:bodyPr>
          <a:lstStyle/>
          <a:p>
            <a:pPr algn="l"/>
            <a:r>
              <a:rPr sz="3000" b="1">
                <a:solidFill>
                  <a:srgbClr val="FFFFFF"/>
                </a:solidFill>
                <a:latin typeface="Yu Gothic"/>
              </a:rPr>
              <a:t>最後に</a:t>
            </a:r>
          </a:p>
        </p:txBody>
      </p:sp>
      <p:sp>
        <p:nvSpPr>
          <p:cNvPr id="4" name="Rectangle 3"/>
          <p:cNvSpPr/>
          <p:nvPr/>
        </p:nvSpPr>
        <p:spPr>
          <a:xfrm>
            <a:off x="914400" y="1920240"/>
            <a:ext cx="10332720" cy="3657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286000"/>
            <a:ext cx="10332720" cy="2377440"/>
          </a:xfrm>
          <a:prstGeom prst="rect">
            <a:avLst/>
          </a:prstGeom>
          <a:noFill/>
        </p:spPr>
        <p:txBody>
          <a:bodyPr wrap="square" anchor="t">
            <a:spAutoFit/>
          </a:bodyPr>
          <a:lstStyle/>
          <a:p>
            <a:pPr algn="l">
              <a:spcAft>
                <a:spcPts val="1400"/>
              </a:spcAft>
            </a:pPr>
            <a:r>
              <a:rPr sz="1600" b="1">
                <a:solidFill>
                  <a:srgbClr val="9FC5A0"/>
                </a:solidFill>
                <a:latin typeface="Yu Gothic"/>
              </a:rPr>
              <a:t>▪ </a:t>
            </a:r>
            <a:r>
              <a:rPr sz="1600" b="0">
                <a:solidFill>
                  <a:srgbClr val="FFFFFF"/>
                </a:solidFill>
                <a:latin typeface="Yu Gothic"/>
              </a:rPr>
              <a:t>この資料は会社側の案。違うと思う点は理由と一緒に聞かせてほしい。議論して決める。</a:t>
            </a:r>
          </a:p>
          <a:p>
            <a:pPr algn="l">
              <a:spcAft>
                <a:spcPts val="1400"/>
              </a:spcAft>
            </a:pPr>
            <a:r>
              <a:rPr sz="1600" b="1">
                <a:solidFill>
                  <a:srgbClr val="9FC5A0"/>
                </a:solidFill>
                <a:latin typeface="Yu Gothic"/>
              </a:rPr>
              <a:t>▪ </a:t>
            </a:r>
            <a:r>
              <a:rPr sz="1600" b="0">
                <a:solidFill>
                  <a:srgbClr val="FFFFFF"/>
                </a:solidFill>
                <a:latin typeface="Yu Gothic"/>
              </a:rPr>
              <a:t>小林さんのやりたいことは潰さない。ただし順番として、まず最初の事例と数字を作る。</a:t>
            </a:r>
          </a:p>
          <a:p>
            <a:pPr algn="l">
              <a:spcAft>
                <a:spcPts val="1400"/>
              </a:spcAft>
            </a:pPr>
            <a:r>
              <a:rPr sz="1600" b="1">
                <a:solidFill>
                  <a:srgbClr val="9FC5A0"/>
                </a:solidFill>
                <a:latin typeface="Yu Gothic"/>
              </a:rPr>
              <a:t>▪ </a:t>
            </a:r>
            <a:r>
              <a:rPr sz="1600" b="0">
                <a:solidFill>
                  <a:srgbClr val="FFFFFF"/>
                </a:solidFill>
                <a:latin typeface="Yu Gothic"/>
              </a:rPr>
              <a:t>実績ができれば、やりたいことを実現する余地はどんどん広がる。</a:t>
            </a:r>
          </a:p>
        </p:txBody>
      </p:sp>
      <p:sp>
        <p:nvSpPr>
          <p:cNvPr id="6" name="TextBox 5"/>
          <p:cNvSpPr txBox="1"/>
          <p:nvPr/>
        </p:nvSpPr>
        <p:spPr>
          <a:xfrm>
            <a:off x="914400" y="4846320"/>
            <a:ext cx="10332720" cy="914400"/>
          </a:xfrm>
          <a:prstGeom prst="rect">
            <a:avLst/>
          </a:prstGeom>
          <a:noFill/>
        </p:spPr>
        <p:txBody>
          <a:bodyPr wrap="square" anchor="t">
            <a:spAutoFit/>
          </a:bodyPr>
          <a:lstStyle/>
          <a:p>
            <a:pPr algn="l"/>
            <a:r>
              <a:rPr sz="1400" b="0">
                <a:solidFill>
                  <a:srgbClr val="CCD9E5"/>
                </a:solidFill>
                <a:latin typeface="Yu Gothic"/>
              </a:rPr>
              <a:t>次回打ち合わせで聞きたいこと：この計画で違うと思う点／やりたいこと／会社に求める支援</a:t>
            </a:r>
          </a:p>
          <a:p>
            <a:pPr algn="l"/>
            <a:r>
              <a:rPr sz="2000" b="1">
                <a:solidFill>
                  <a:srgbClr val="FFFFFF"/>
                </a:solidFill>
                <a:latin typeface="Yu Gothic"/>
              </a:rPr>
              <a:t>期待しています。まずは最初の一社から。</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